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5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F79"/>
    <a:srgbClr val="8F1329"/>
    <a:srgbClr val="F95010"/>
    <a:srgbClr val="3C5DFF"/>
    <a:srgbClr val="C55F5F"/>
    <a:srgbClr val="87C55F"/>
    <a:srgbClr val="DCB0F2"/>
    <a:srgbClr val="9EB9F3"/>
    <a:srgbClr val="FAD2E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B88E4-0F45-484D-8FD6-3FE2F73A9706}" v="278" dt="2026-05-30T08:25:04.55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58" autoAdjust="0"/>
    <p:restoredTop sz="96247" autoAdjust="0"/>
  </p:normalViewPr>
  <p:slideViewPr>
    <p:cSldViewPr snapToGrid="0">
      <p:cViewPr varScale="1">
        <p:scale>
          <a:sx n="19" d="100"/>
          <a:sy n="19" d="100"/>
        </p:scale>
        <p:origin x="3734" y="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ábor P." userId="0ab09c47ecaa1d75" providerId="LiveId" clId="{66D0093F-94BA-4925-BC00-BBF65D4627A0}"/>
    <pc:docChg chg="undo redo custSel addSld delSld modSld sldOrd addSection delSection modSection">
      <pc:chgData name="Gábor P." userId="0ab09c47ecaa1d75" providerId="LiveId" clId="{66D0093F-94BA-4925-BC00-BBF65D4627A0}" dt="2026-06-08T09:56:49.057" v="32041" actId="47"/>
      <pc:docMkLst>
        <pc:docMk/>
      </pc:docMkLst>
      <pc:sldChg chg="addSp delSp modSp add del mod">
        <pc:chgData name="Gábor P." userId="0ab09c47ecaa1d75" providerId="LiveId" clId="{66D0093F-94BA-4925-BC00-BBF65D4627A0}" dt="2026-06-08T09:56:49.057" v="32041" actId="47"/>
        <pc:sldMkLst>
          <pc:docMk/>
          <pc:sldMk cId="24568488" sldId="264"/>
        </pc:sldMkLst>
      </pc:sldChg>
      <pc:sldChg chg="addSp delSp modSp add mod ord">
        <pc:chgData name="Gábor P." userId="0ab09c47ecaa1d75" providerId="LiveId" clId="{66D0093F-94BA-4925-BC00-BBF65D4627A0}" dt="2026-06-08T09:54:15.868" v="32040" actId="1036"/>
        <pc:sldMkLst>
          <pc:docMk/>
          <pc:sldMk cId="3421349390" sldId="265"/>
        </pc:sldMkLst>
        <pc:spChg chg="mod">
          <ac:chgData name="Gábor P." userId="0ab09c47ecaa1d75" providerId="LiveId" clId="{66D0093F-94BA-4925-BC00-BBF65D4627A0}" dt="2026-05-30T07:01:48.994" v="29440" actId="1076"/>
          <ac:spMkLst>
            <pc:docMk/>
            <pc:sldMk cId="3421349390" sldId="265"/>
            <ac:spMk id="2" creationId="{8C451C73-5EA3-9E0A-4566-E5C62084A46D}"/>
          </ac:spMkLst>
        </pc:spChg>
        <pc:spChg chg="mod">
          <ac:chgData name="Gábor P." userId="0ab09c47ecaa1d75" providerId="LiveId" clId="{66D0093F-94BA-4925-BC00-BBF65D4627A0}" dt="2026-05-30T08:31:13.804" v="31976" actId="20577"/>
          <ac:spMkLst>
            <pc:docMk/>
            <pc:sldMk cId="3421349390" sldId="265"/>
            <ac:spMk id="6" creationId="{4B98C000-68A6-B909-F8E3-58788426CE55}"/>
          </ac:spMkLst>
        </pc:spChg>
        <pc:spChg chg="mod">
          <ac:chgData name="Gábor P." userId="0ab09c47ecaa1d75" providerId="LiveId" clId="{66D0093F-94BA-4925-BC00-BBF65D4627A0}" dt="2026-05-30T08:14:18.736" v="31478" actId="1036"/>
          <ac:spMkLst>
            <pc:docMk/>
            <pc:sldMk cId="3421349390" sldId="265"/>
            <ac:spMk id="9" creationId="{DC263EEB-BFB4-8A83-082C-21348063BC92}"/>
          </ac:spMkLst>
        </pc:spChg>
        <pc:spChg chg="mod">
          <ac:chgData name="Gábor P." userId="0ab09c47ecaa1d75" providerId="LiveId" clId="{66D0093F-94BA-4925-BC00-BBF65D4627A0}" dt="2026-06-08T09:53:47.796" v="31999" actId="20577"/>
          <ac:spMkLst>
            <pc:docMk/>
            <pc:sldMk cId="3421349390" sldId="265"/>
            <ac:spMk id="11" creationId="{C0980E97-B76E-12DE-EF94-46050E9C61DA}"/>
          </ac:spMkLst>
        </pc:spChg>
        <pc:spChg chg="mod">
          <ac:chgData name="Gábor P." userId="0ab09c47ecaa1d75" providerId="LiveId" clId="{66D0093F-94BA-4925-BC00-BBF65D4627A0}" dt="2026-05-30T05:28:46.307" v="28447" actId="1035"/>
          <ac:spMkLst>
            <pc:docMk/>
            <pc:sldMk cId="3421349390" sldId="265"/>
            <ac:spMk id="16" creationId="{FCD08E07-24A5-6C55-D54F-F3F1A2741440}"/>
          </ac:spMkLst>
        </pc:spChg>
        <pc:spChg chg="mod">
          <ac:chgData name="Gábor P." userId="0ab09c47ecaa1d75" providerId="LiveId" clId="{66D0093F-94BA-4925-BC00-BBF65D4627A0}" dt="2026-05-30T08:31:15.642" v="31979" actId="20577"/>
          <ac:spMkLst>
            <pc:docMk/>
            <pc:sldMk cId="3421349390" sldId="265"/>
            <ac:spMk id="18" creationId="{3A974D04-1DC0-F8BA-4DFC-FED4E3C74C6C}"/>
          </ac:spMkLst>
        </pc:spChg>
        <pc:spChg chg="mod">
          <ac:chgData name="Gábor P." userId="0ab09c47ecaa1d75" providerId="LiveId" clId="{66D0093F-94BA-4925-BC00-BBF65D4627A0}" dt="2026-05-30T08:10:40.056" v="31248" actId="20577"/>
          <ac:spMkLst>
            <pc:docMk/>
            <pc:sldMk cId="3421349390" sldId="265"/>
            <ac:spMk id="22" creationId="{1C1DAB7B-2C56-F9F3-6574-11446A0DEA59}"/>
          </ac:spMkLst>
        </pc:spChg>
        <pc:spChg chg="mod">
          <ac:chgData name="Gábor P." userId="0ab09c47ecaa1d75" providerId="LiveId" clId="{66D0093F-94BA-4925-BC00-BBF65D4627A0}" dt="2026-05-30T08:10:08.320" v="31182" actId="20577"/>
          <ac:spMkLst>
            <pc:docMk/>
            <pc:sldMk cId="3421349390" sldId="265"/>
            <ac:spMk id="29" creationId="{7DBF8FB6-971F-FD81-79F5-8D96BD3D59B7}"/>
          </ac:spMkLst>
        </pc:spChg>
        <pc:spChg chg="mod">
          <ac:chgData name="Gábor P." userId="0ab09c47ecaa1d75" providerId="LiveId" clId="{66D0093F-94BA-4925-BC00-BBF65D4627A0}" dt="2026-05-30T05:29:59.158" v="28461" actId="14100"/>
          <ac:spMkLst>
            <pc:docMk/>
            <pc:sldMk cId="3421349390" sldId="265"/>
            <ac:spMk id="34" creationId="{E5F5BBC9-D911-206A-EE60-B219F3F95841}"/>
          </ac:spMkLst>
        </pc:spChg>
        <pc:spChg chg="mod">
          <ac:chgData name="Gábor P." userId="0ab09c47ecaa1d75" providerId="LiveId" clId="{66D0093F-94BA-4925-BC00-BBF65D4627A0}" dt="2026-05-30T07:40:20.892" v="30331" actId="208"/>
          <ac:spMkLst>
            <pc:docMk/>
            <pc:sldMk cId="3421349390" sldId="265"/>
            <ac:spMk id="35" creationId="{A798C0DC-E952-F37B-4B05-471C616A4556}"/>
          </ac:spMkLst>
        </pc:spChg>
        <pc:spChg chg="mod">
          <ac:chgData name="Gábor P." userId="0ab09c47ecaa1d75" providerId="LiveId" clId="{66D0093F-94BA-4925-BC00-BBF65D4627A0}" dt="2026-05-30T05:31:38.285" v="28478" actId="1035"/>
          <ac:spMkLst>
            <pc:docMk/>
            <pc:sldMk cId="3421349390" sldId="265"/>
            <ac:spMk id="58" creationId="{3E13CB87-D6DC-C35D-37C4-4E3855851915}"/>
          </ac:spMkLst>
        </pc:spChg>
        <pc:spChg chg="mod">
          <ac:chgData name="Gábor P." userId="0ab09c47ecaa1d75" providerId="LiveId" clId="{66D0093F-94BA-4925-BC00-BBF65D4627A0}" dt="2026-05-30T05:31:38.285" v="28478" actId="1035"/>
          <ac:spMkLst>
            <pc:docMk/>
            <pc:sldMk cId="3421349390" sldId="265"/>
            <ac:spMk id="59" creationId="{48F057C2-7AA9-C35F-1573-1520F01261E7}"/>
          </ac:spMkLst>
        </pc:spChg>
        <pc:spChg chg="mod">
          <ac:chgData name="Gábor P." userId="0ab09c47ecaa1d75" providerId="LiveId" clId="{66D0093F-94BA-4925-BC00-BBF65D4627A0}" dt="2026-05-30T05:31:38.285" v="28478" actId="1035"/>
          <ac:spMkLst>
            <pc:docMk/>
            <pc:sldMk cId="3421349390" sldId="265"/>
            <ac:spMk id="60" creationId="{7713D25E-D951-D2CA-97E7-15F06E3910BF}"/>
          </ac:spMkLst>
        </pc:spChg>
        <pc:spChg chg="mod">
          <ac:chgData name="Gábor P." userId="0ab09c47ecaa1d75" providerId="LiveId" clId="{66D0093F-94BA-4925-BC00-BBF65D4627A0}" dt="2026-05-30T05:30:35.247" v="28467" actId="14100"/>
          <ac:spMkLst>
            <pc:docMk/>
            <pc:sldMk cId="3421349390" sldId="265"/>
            <ac:spMk id="62" creationId="{6F458A6B-D2AB-1680-9E94-51416B58D7D4}"/>
          </ac:spMkLst>
        </pc:spChg>
        <pc:spChg chg="mod">
          <ac:chgData name="Gábor P." userId="0ab09c47ecaa1d75" providerId="LiveId" clId="{66D0093F-94BA-4925-BC00-BBF65D4627A0}" dt="2026-05-30T08:18:39.677" v="31582" actId="207"/>
          <ac:spMkLst>
            <pc:docMk/>
            <pc:sldMk cId="3421349390" sldId="265"/>
            <ac:spMk id="1024" creationId="{3CA83761-FA85-1F2C-AE68-E55CCCD48C21}"/>
          </ac:spMkLst>
        </pc:spChg>
        <pc:spChg chg="mod">
          <ac:chgData name="Gábor P." userId="0ab09c47ecaa1d75" providerId="LiveId" clId="{66D0093F-94BA-4925-BC00-BBF65D4627A0}" dt="2026-05-30T08:18:39.677" v="31582" actId="207"/>
          <ac:spMkLst>
            <pc:docMk/>
            <pc:sldMk cId="3421349390" sldId="265"/>
            <ac:spMk id="1025" creationId="{61E106EA-F4A3-0B2C-55FF-74B7A71AE2D0}"/>
          </ac:spMkLst>
        </pc:spChg>
        <pc:spChg chg="mod">
          <ac:chgData name="Gábor P." userId="0ab09c47ecaa1d75" providerId="LiveId" clId="{66D0093F-94BA-4925-BC00-BBF65D4627A0}" dt="2026-05-30T08:13:53.035" v="31463" actId="1036"/>
          <ac:spMkLst>
            <pc:docMk/>
            <pc:sldMk cId="3421349390" sldId="265"/>
            <ac:spMk id="1026" creationId="{CABBDC06-4ECA-1F4D-D23B-BB610241651F}"/>
          </ac:spMkLst>
        </pc:spChg>
        <pc:spChg chg="add mod">
          <ac:chgData name="Gábor P." userId="0ab09c47ecaa1d75" providerId="LiveId" clId="{66D0093F-94BA-4925-BC00-BBF65D4627A0}" dt="2026-05-30T07:57:18.706" v="30909" actId="1036"/>
          <ac:spMkLst>
            <pc:docMk/>
            <pc:sldMk cId="3421349390" sldId="265"/>
            <ac:spMk id="1030" creationId="{2A003222-D7A2-5711-54AA-41AF0C18B244}"/>
          </ac:spMkLst>
        </pc:spChg>
        <pc:spChg chg="add mod">
          <ac:chgData name="Gábor P." userId="0ab09c47ecaa1d75" providerId="LiveId" clId="{66D0093F-94BA-4925-BC00-BBF65D4627A0}" dt="2026-05-30T07:57:18.706" v="30909" actId="1036"/>
          <ac:spMkLst>
            <pc:docMk/>
            <pc:sldMk cId="3421349390" sldId="265"/>
            <ac:spMk id="1032" creationId="{46445CA5-A8B1-3D9B-9BD1-D0193F95DF26}"/>
          </ac:spMkLst>
        </pc:spChg>
        <pc:spChg chg="mod">
          <ac:chgData name="Gábor P." userId="0ab09c47ecaa1d75" providerId="LiveId" clId="{66D0093F-94BA-4925-BC00-BBF65D4627A0}" dt="2026-05-30T08:10:11.868" v="31183" actId="1076"/>
          <ac:spMkLst>
            <pc:docMk/>
            <pc:sldMk cId="3421349390" sldId="265"/>
            <ac:spMk id="1036" creationId="{55042329-C54B-4659-16E6-D88B49B36B00}"/>
          </ac:spMkLst>
        </pc:spChg>
        <pc:spChg chg="mod">
          <ac:chgData name="Gábor P." userId="0ab09c47ecaa1d75" providerId="LiveId" clId="{66D0093F-94BA-4925-BC00-BBF65D4627A0}" dt="2026-05-30T08:24:40.655" v="31826" actId="1076"/>
          <ac:spMkLst>
            <pc:docMk/>
            <pc:sldMk cId="3421349390" sldId="265"/>
            <ac:spMk id="1038" creationId="{54729F0E-E50F-071D-4DC0-6E2F9B14E3C9}"/>
          </ac:spMkLst>
        </pc:spChg>
        <pc:spChg chg="mod">
          <ac:chgData name="Gábor P." userId="0ab09c47ecaa1d75" providerId="LiveId" clId="{66D0093F-94BA-4925-BC00-BBF65D4627A0}" dt="2026-05-30T08:12:40.840" v="31372" actId="1076"/>
          <ac:spMkLst>
            <pc:docMk/>
            <pc:sldMk cId="3421349390" sldId="265"/>
            <ac:spMk id="1045" creationId="{61770075-C928-855F-F683-D872702EC769}"/>
          </ac:spMkLst>
        </pc:spChg>
        <pc:spChg chg="mod">
          <ac:chgData name="Gábor P." userId="0ab09c47ecaa1d75" providerId="LiveId" clId="{66D0093F-94BA-4925-BC00-BBF65D4627A0}" dt="2026-05-30T07:45:47.651" v="30478" actId="1076"/>
          <ac:spMkLst>
            <pc:docMk/>
            <pc:sldMk cId="3421349390" sldId="265"/>
            <ac:spMk id="1046" creationId="{5297A094-7016-B351-4364-2C5129A5D291}"/>
          </ac:spMkLst>
        </pc:spChg>
        <pc:spChg chg="add mod">
          <ac:chgData name="Gábor P." userId="0ab09c47ecaa1d75" providerId="LiveId" clId="{66D0093F-94BA-4925-BC00-BBF65D4627A0}" dt="2026-06-08T09:54:15.868" v="32040" actId="1036"/>
          <ac:spMkLst>
            <pc:docMk/>
            <pc:sldMk cId="3421349390" sldId="265"/>
            <ac:spMk id="1051" creationId="{17BAFAD1-20A0-60EC-1157-DA72D466FE78}"/>
          </ac:spMkLst>
        </pc:spChg>
        <pc:spChg chg="mod">
          <ac:chgData name="Gábor P." userId="0ab09c47ecaa1d75" providerId="LiveId" clId="{66D0093F-94BA-4925-BC00-BBF65D4627A0}" dt="2026-05-30T08:14:05.187" v="31472" actId="1036"/>
          <ac:spMkLst>
            <pc:docMk/>
            <pc:sldMk cId="3421349390" sldId="265"/>
            <ac:spMk id="1052" creationId="{461796FB-6F24-D716-4CD6-4638C7E85B2A}"/>
          </ac:spMkLst>
        </pc:spChg>
        <pc:spChg chg="add mod">
          <ac:chgData name="Gábor P." userId="0ab09c47ecaa1d75" providerId="LiveId" clId="{66D0093F-94BA-4925-BC00-BBF65D4627A0}" dt="2026-05-30T08:27:26.582" v="31953" actId="1076"/>
          <ac:spMkLst>
            <pc:docMk/>
            <pc:sldMk cId="3421349390" sldId="265"/>
            <ac:spMk id="1059" creationId="{D9CA62BF-2AF4-F467-C31D-14BBEB502F7D}"/>
          </ac:spMkLst>
        </pc:spChg>
        <pc:spChg chg="mod">
          <ac:chgData name="Gábor P." userId="0ab09c47ecaa1d75" providerId="LiveId" clId="{66D0093F-94BA-4925-BC00-BBF65D4627A0}" dt="2026-05-30T08:33:02.457" v="31998" actId="20577"/>
          <ac:spMkLst>
            <pc:docMk/>
            <pc:sldMk cId="3421349390" sldId="265"/>
            <ac:spMk id="1068" creationId="{D145DA5D-DAD1-E7DC-DE45-D953E3E81520}"/>
          </ac:spMkLst>
        </pc:spChg>
        <pc:graphicFrameChg chg="mod">
          <ac:chgData name="Gábor P." userId="0ab09c47ecaa1d75" providerId="LiveId" clId="{66D0093F-94BA-4925-BC00-BBF65D4627A0}" dt="2026-05-30T08:14:18.736" v="31478" actId="1036"/>
          <ac:graphicFrameMkLst>
            <pc:docMk/>
            <pc:sldMk cId="3421349390" sldId="265"/>
            <ac:graphicFrameMk id="1047" creationId="{622470C8-755F-752F-A22F-7F63EBA8EBCB}"/>
          </ac:graphicFrameMkLst>
        </pc:graphicFrameChg>
        <pc:picChg chg="mod">
          <ac:chgData name="Gábor P." userId="0ab09c47ecaa1d75" providerId="LiveId" clId="{66D0093F-94BA-4925-BC00-BBF65D4627A0}" dt="2026-05-30T08:25:17.289" v="31844" actId="1035"/>
          <ac:picMkLst>
            <pc:docMk/>
            <pc:sldMk cId="3421349390" sldId="265"/>
            <ac:picMk id="21" creationId="{F1E74744-E443-4C3F-A73A-8FB00F488489}"/>
          </ac:picMkLst>
        </pc:picChg>
        <pc:picChg chg="add mod">
          <ac:chgData name="Gábor P." userId="0ab09c47ecaa1d75" providerId="LiveId" clId="{66D0093F-94BA-4925-BC00-BBF65D4627A0}" dt="2026-05-30T07:13:57.529" v="29736" actId="1035"/>
          <ac:picMkLst>
            <pc:docMk/>
            <pc:sldMk cId="3421349390" sldId="265"/>
            <ac:picMk id="23" creationId="{16784B33-C5B8-2D11-7BF9-5420B9463612}"/>
          </ac:picMkLst>
        </pc:picChg>
        <pc:picChg chg="mod">
          <ac:chgData name="Gábor P." userId="0ab09c47ecaa1d75" providerId="LiveId" clId="{66D0093F-94BA-4925-BC00-BBF65D4627A0}" dt="2026-05-30T08:10:32.945" v="31239" actId="1035"/>
          <ac:picMkLst>
            <pc:docMk/>
            <pc:sldMk cId="3421349390" sldId="265"/>
            <ac:picMk id="25" creationId="{2EA94E74-1FE2-A968-9EBC-DBA6A3DB7693}"/>
          </ac:picMkLst>
        </pc:picChg>
        <pc:picChg chg="add mod modCrop">
          <ac:chgData name="Gábor P." userId="0ab09c47ecaa1d75" providerId="LiveId" clId="{66D0093F-94BA-4925-BC00-BBF65D4627A0}" dt="2026-05-30T07:57:18.706" v="30909" actId="1036"/>
          <ac:picMkLst>
            <pc:docMk/>
            <pc:sldMk cId="3421349390" sldId="265"/>
            <ac:picMk id="26" creationId="{9BCB0A34-EBC3-3C2A-873F-27760389C1EE}"/>
          </ac:picMkLst>
        </pc:picChg>
        <pc:picChg chg="mod">
          <ac:chgData name="Gábor P." userId="0ab09c47ecaa1d75" providerId="LiveId" clId="{66D0093F-94BA-4925-BC00-BBF65D4627A0}" dt="2026-05-30T05:28:46.307" v="28447" actId="1035"/>
          <ac:picMkLst>
            <pc:docMk/>
            <pc:sldMk cId="3421349390" sldId="265"/>
            <ac:picMk id="27" creationId="{6E8F2CFB-2B18-B7FC-DEBC-76DBCE7E5330}"/>
          </ac:picMkLst>
        </pc:picChg>
        <pc:picChg chg="mod">
          <ac:chgData name="Gábor P." userId="0ab09c47ecaa1d75" providerId="LiveId" clId="{66D0093F-94BA-4925-BC00-BBF65D4627A0}" dt="2026-05-30T05:28:46.307" v="28447" actId="1035"/>
          <ac:picMkLst>
            <pc:docMk/>
            <pc:sldMk cId="3421349390" sldId="265"/>
            <ac:picMk id="37" creationId="{AE98665C-6D4D-4AD8-DF24-641DB477B7A0}"/>
          </ac:picMkLst>
        </pc:picChg>
        <pc:picChg chg="add mod">
          <ac:chgData name="Gábor P." userId="0ab09c47ecaa1d75" providerId="LiveId" clId="{66D0093F-94BA-4925-BC00-BBF65D4627A0}" dt="2026-05-30T07:13:57.529" v="29736" actId="1035"/>
          <ac:picMkLst>
            <pc:docMk/>
            <pc:sldMk cId="3421349390" sldId="265"/>
            <ac:picMk id="38" creationId="{C39688E7-289F-341B-B6FD-E4B2F3C5F948}"/>
          </ac:picMkLst>
        </pc:picChg>
        <pc:picChg chg="add mod modCrop">
          <ac:chgData name="Gábor P." userId="0ab09c47ecaa1d75" providerId="LiveId" clId="{66D0093F-94BA-4925-BC00-BBF65D4627A0}" dt="2026-05-30T07:57:18.706" v="30909" actId="1036"/>
          <ac:picMkLst>
            <pc:docMk/>
            <pc:sldMk cId="3421349390" sldId="265"/>
            <ac:picMk id="40" creationId="{2EC948AC-A097-0282-5D84-FABDA3682440}"/>
          </ac:picMkLst>
        </pc:picChg>
        <pc:picChg chg="add mod modCrop">
          <ac:chgData name="Gábor P." userId="0ab09c47ecaa1d75" providerId="LiveId" clId="{66D0093F-94BA-4925-BC00-BBF65D4627A0}" dt="2026-05-30T07:15:27.912" v="29806" actId="1036"/>
          <ac:picMkLst>
            <pc:docMk/>
            <pc:sldMk cId="3421349390" sldId="265"/>
            <ac:picMk id="42" creationId="{A2AAA12B-03AC-232A-3701-BA9DA1847757}"/>
          </ac:picMkLst>
        </pc:picChg>
        <pc:picChg chg="add mod">
          <ac:chgData name="Gábor P." userId="0ab09c47ecaa1d75" providerId="LiveId" clId="{66D0093F-94BA-4925-BC00-BBF65D4627A0}" dt="2026-05-30T07:24:02.290" v="30062" actId="1037"/>
          <ac:picMkLst>
            <pc:docMk/>
            <pc:sldMk cId="3421349390" sldId="265"/>
            <ac:picMk id="52" creationId="{7E5F07F9-5328-6CA6-CB8E-FD0A71F0CCE3}"/>
          </ac:picMkLst>
        </pc:picChg>
        <pc:picChg chg="mod">
          <ac:chgData name="Gábor P." userId="0ab09c47ecaa1d75" providerId="LiveId" clId="{66D0093F-94BA-4925-BC00-BBF65D4627A0}" dt="2026-05-30T05:31:38.285" v="28478" actId="1035"/>
          <ac:picMkLst>
            <pc:docMk/>
            <pc:sldMk cId="3421349390" sldId="265"/>
            <ac:picMk id="53" creationId="{9E5A552A-525B-E996-41BC-E994E9D8D262}"/>
          </ac:picMkLst>
        </pc:picChg>
        <pc:picChg chg="mod">
          <ac:chgData name="Gábor P." userId="0ab09c47ecaa1d75" providerId="LiveId" clId="{66D0093F-94BA-4925-BC00-BBF65D4627A0}" dt="2026-05-30T05:31:38.285" v="28478" actId="1035"/>
          <ac:picMkLst>
            <pc:docMk/>
            <pc:sldMk cId="3421349390" sldId="265"/>
            <ac:picMk id="56" creationId="{3A9CF356-E7B5-CF0F-9ED6-7DD3ACABEC84}"/>
          </ac:picMkLst>
        </pc:picChg>
        <pc:picChg chg="mod">
          <ac:chgData name="Gábor P." userId="0ab09c47ecaa1d75" providerId="LiveId" clId="{66D0093F-94BA-4925-BC00-BBF65D4627A0}" dt="2026-05-30T08:10:32.945" v="31239" actId="1035"/>
          <ac:picMkLst>
            <pc:docMk/>
            <pc:sldMk cId="3421349390" sldId="265"/>
            <ac:picMk id="1031" creationId="{C5A07147-5D44-3B59-ED18-AE03FA82721F}"/>
          </ac:picMkLst>
        </pc:picChg>
        <pc:picChg chg="mod">
          <ac:chgData name="Gábor P." userId="0ab09c47ecaa1d75" providerId="LiveId" clId="{66D0093F-94BA-4925-BC00-BBF65D4627A0}" dt="2026-05-30T08:14:14.348" v="31476" actId="1036"/>
          <ac:picMkLst>
            <pc:docMk/>
            <pc:sldMk cId="3421349390" sldId="265"/>
            <ac:picMk id="1035" creationId="{D2893597-D7E3-74D7-80E5-45748DFE9D60}"/>
          </ac:picMkLst>
        </pc:picChg>
        <pc:picChg chg="mod">
          <ac:chgData name="Gábor P." userId="0ab09c47ecaa1d75" providerId="LiveId" clId="{66D0093F-94BA-4925-BC00-BBF65D4627A0}" dt="2026-05-30T08:14:14.348" v="31476" actId="1036"/>
          <ac:picMkLst>
            <pc:docMk/>
            <pc:sldMk cId="3421349390" sldId="265"/>
            <ac:picMk id="1037" creationId="{3EBB2285-FC3E-5A91-7480-AD6632B4B526}"/>
          </ac:picMkLst>
        </pc:picChg>
        <pc:picChg chg="add mod modCrop">
          <ac:chgData name="Gábor P." userId="0ab09c47ecaa1d75" providerId="LiveId" clId="{66D0093F-94BA-4925-BC00-BBF65D4627A0}" dt="2026-05-30T08:27:30.513" v="31954" actId="1076"/>
          <ac:picMkLst>
            <pc:docMk/>
            <pc:sldMk cId="3421349390" sldId="265"/>
            <ac:picMk id="1042" creationId="{0F0863DF-AB12-441A-0EBE-12D0C3F62EFC}"/>
          </ac:picMkLst>
        </pc:picChg>
        <pc:picChg chg="mod">
          <ac:chgData name="Gábor P." userId="0ab09c47ecaa1d75" providerId="LiveId" clId="{66D0093F-94BA-4925-BC00-BBF65D4627A0}" dt="2026-05-30T08:13:53.035" v="31463" actId="1036"/>
          <ac:picMkLst>
            <pc:docMk/>
            <pc:sldMk cId="3421349390" sldId="265"/>
            <ac:picMk id="1048" creationId="{8D55DEA8-6030-09C5-38AD-A0DF5A6F1911}"/>
          </ac:picMkLst>
        </pc:picChg>
        <pc:picChg chg="mod">
          <ac:chgData name="Gábor P." userId="0ab09c47ecaa1d75" providerId="LiveId" clId="{66D0093F-94BA-4925-BC00-BBF65D4627A0}" dt="2026-05-30T08:14:05.187" v="31472" actId="1036"/>
          <ac:picMkLst>
            <pc:docMk/>
            <pc:sldMk cId="3421349390" sldId="265"/>
            <ac:picMk id="1049" creationId="{EBAC9C3A-E6F0-F4CB-1838-125F09B7DC7F}"/>
          </ac:picMkLst>
        </pc:picChg>
        <pc:picChg chg="add mod modCrop">
          <ac:chgData name="Gábor P." userId="0ab09c47ecaa1d75" providerId="LiveId" clId="{66D0093F-94BA-4925-BC00-BBF65D4627A0}" dt="2026-05-30T08:27:32.704" v="31956" actId="1037"/>
          <ac:picMkLst>
            <pc:docMk/>
            <pc:sldMk cId="3421349390" sldId="265"/>
            <ac:picMk id="1050" creationId="{937D4A79-5C53-DC63-34A1-71FF87423B46}"/>
          </ac:picMkLst>
        </pc:picChg>
        <pc:picChg chg="mod">
          <ac:chgData name="Gábor P." userId="0ab09c47ecaa1d75" providerId="LiveId" clId="{66D0093F-94BA-4925-BC00-BBF65D4627A0}" dt="2026-05-30T08:10:32.945" v="31239" actId="1035"/>
          <ac:picMkLst>
            <pc:docMk/>
            <pc:sldMk cId="3421349390" sldId="265"/>
            <ac:picMk id="1055" creationId="{4C77F7D0-0E98-FCDE-B9B9-57587711F26D}"/>
          </ac:picMkLst>
        </pc:picChg>
        <pc:picChg chg="mod">
          <ac:chgData name="Gábor P." userId="0ab09c47ecaa1d75" providerId="LiveId" clId="{66D0093F-94BA-4925-BC00-BBF65D4627A0}" dt="2026-05-30T08:10:32.945" v="31239" actId="1035"/>
          <ac:picMkLst>
            <pc:docMk/>
            <pc:sldMk cId="3421349390" sldId="265"/>
            <ac:picMk id="1057" creationId="{AC07F0CD-B132-5C48-7525-F88B55D92FD6}"/>
          </ac:picMkLst>
        </pc:picChg>
        <pc:picChg chg="mod">
          <ac:chgData name="Gábor P." userId="0ab09c47ecaa1d75" providerId="LiveId" clId="{66D0093F-94BA-4925-BC00-BBF65D4627A0}" dt="2026-05-30T08:10:32.945" v="31239" actId="1035"/>
          <ac:picMkLst>
            <pc:docMk/>
            <pc:sldMk cId="3421349390" sldId="265"/>
            <ac:picMk id="1058" creationId="{C74E3A03-14DD-4DDC-B0F0-B7E41EAEDFCA}"/>
          </ac:picMkLst>
        </pc:picChg>
        <pc:picChg chg="mod modCrop">
          <ac:chgData name="Gábor P." userId="0ab09c47ecaa1d75" providerId="LiveId" clId="{66D0093F-94BA-4925-BC00-BBF65D4627A0}" dt="2026-05-30T07:57:18.706" v="30909" actId="1036"/>
          <ac:picMkLst>
            <pc:docMk/>
            <pc:sldMk cId="3421349390" sldId="265"/>
            <ac:picMk id="1064" creationId="{917CF78D-F5CD-3D88-8710-2CF4A9308DBB}"/>
          </ac:picMkLst>
        </pc:picChg>
        <pc:picChg chg="mod">
          <ac:chgData name="Gábor P." userId="0ab09c47ecaa1d75" providerId="LiveId" clId="{66D0093F-94BA-4925-BC00-BBF65D4627A0}" dt="2026-05-30T07:57:18.706" v="30909" actId="1036"/>
          <ac:picMkLst>
            <pc:docMk/>
            <pc:sldMk cId="3421349390" sldId="265"/>
            <ac:picMk id="1065" creationId="{818D01D2-91A3-D678-19C0-B105CE335F70}"/>
          </ac:picMkLst>
        </pc:picChg>
        <pc:cxnChg chg="add mod">
          <ac:chgData name="Gábor P." userId="0ab09c47ecaa1d75" providerId="LiveId" clId="{66D0093F-94BA-4925-BC00-BBF65D4627A0}" dt="2026-05-30T08:27:38.259" v="31957" actId="14100"/>
          <ac:cxnSpMkLst>
            <pc:docMk/>
            <pc:sldMk cId="3421349390" sldId="265"/>
            <ac:cxnSpMk id="1062" creationId="{78E1FC11-573A-4FBE-66FB-92A75A4F179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C27F3-23D7-40DC-BF64-B12ADD5BAC51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EBD14-65AD-4709-8476-026E67D09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6B11D-9A5A-3566-D6AA-0E489F1F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958AD-82BC-4DC2-4201-953309660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CABBA-F926-B583-E954-1E7881E49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9F76D-3C50-16E5-F1EE-30D205510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EBD14-65AD-4709-8476-026E67D09B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74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24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43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0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3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8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0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5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2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3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77BB2-845F-4643-96F5-2669BD811E1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50C0C-94E0-4056-94F6-2E3433A512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1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png"/><Relationship Id="rId18" Type="http://schemas.openxmlformats.org/officeDocument/2006/relationships/image" Target="../media/image7.png"/><Relationship Id="rId26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0.jpeg"/><Relationship Id="rId34" Type="http://schemas.openxmlformats.org/officeDocument/2006/relationships/image" Target="../media/image23.png"/><Relationship Id="rId7" Type="http://schemas.openxmlformats.org/officeDocument/2006/relationships/hyperlink" Target="https://doi.org/10.1075/impact.11.05hel" TargetMode="External"/><Relationship Id="rId12" Type="http://schemas.openxmlformats.org/officeDocument/2006/relationships/hyperlink" Target="https://doi.org/10.1057/s41599-021-00799-6" TargetMode="External"/><Relationship Id="rId17" Type="http://schemas.openxmlformats.org/officeDocument/2006/relationships/image" Target="../media/image6.png"/><Relationship Id="rId25" Type="http://schemas.openxmlformats.org/officeDocument/2006/relationships/image" Target="../media/image14.png"/><Relationship Id="rId3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.png"/><Relationship Id="rId20" Type="http://schemas.openxmlformats.org/officeDocument/2006/relationships/image" Target="../media/image9.jpeg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3389/fpsyg.2015.01023" TargetMode="External"/><Relationship Id="rId11" Type="http://schemas.openxmlformats.org/officeDocument/2006/relationships/hyperlink" Target="https://doi.org/10.3758/s13428-013-0409-z" TargetMode="External"/><Relationship Id="rId24" Type="http://schemas.openxmlformats.org/officeDocument/2006/relationships/image" Target="../media/image13.svg"/><Relationship Id="rId32" Type="http://schemas.openxmlformats.org/officeDocument/2006/relationships/image" Target="../media/image21.png"/><Relationship Id="rId5" Type="http://schemas.openxmlformats.org/officeDocument/2006/relationships/hyperlink" Target="https://doi.org/10.18653/v1/2025.acl-long.83" TargetMode="External"/><Relationship Id="rId15" Type="http://schemas.openxmlformats.org/officeDocument/2006/relationships/image" Target="../media/image4.png"/><Relationship Id="rId23" Type="http://schemas.openxmlformats.org/officeDocument/2006/relationships/image" Target="../media/image12.svg"/><Relationship Id="rId28" Type="http://schemas.openxmlformats.org/officeDocument/2006/relationships/image" Target="../media/image17.png"/><Relationship Id="rId36" Type="http://schemas.openxmlformats.org/officeDocument/2006/relationships/image" Target="../media/image25.png"/><Relationship Id="rId10" Type="http://schemas.openxmlformats.org/officeDocument/2006/relationships/hyperlink" Target="https://doi.org/10.1038/s41562-020-0918-6" TargetMode="External"/><Relationship Id="rId19" Type="http://schemas.openxmlformats.org/officeDocument/2006/relationships/image" Target="../media/image8.jpeg"/><Relationship Id="rId31" Type="http://schemas.openxmlformats.org/officeDocument/2006/relationships/image" Target="../media/image20.png"/><Relationship Id="rId4" Type="http://schemas.openxmlformats.org/officeDocument/2006/relationships/hyperlink" Target="https://github.com/partigabor/occupational-gender-bias" TargetMode="External"/><Relationship Id="rId9" Type="http://schemas.openxmlformats.org/officeDocument/2006/relationships/hyperlink" Target="https://doi.org/10.3389/fcomm.2024.1454022" TargetMode="External"/><Relationship Id="rId14" Type="http://schemas.openxmlformats.org/officeDocument/2006/relationships/image" Target="../media/image3.png"/><Relationship Id="rId22" Type="http://schemas.openxmlformats.org/officeDocument/2006/relationships/image" Target="../media/image11.png"/><Relationship Id="rId27" Type="http://schemas.openxmlformats.org/officeDocument/2006/relationships/image" Target="../media/image16.png"/><Relationship Id="rId30" Type="http://schemas.openxmlformats.org/officeDocument/2006/relationships/image" Target="../media/image19.png"/><Relationship Id="rId35" Type="http://schemas.openxmlformats.org/officeDocument/2006/relationships/image" Target="../media/image24.png"/><Relationship Id="rId8" Type="http://schemas.openxmlformats.org/officeDocument/2006/relationships/hyperlink" Target="https://doi.org/10.18653/v1/2024.findings-acl.25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320B7-7CC8-87E1-1ADC-0FE7596D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451C73-5EA3-9E0A-4566-E5C62084A46D}"/>
              </a:ext>
            </a:extLst>
          </p:cNvPr>
          <p:cNvSpPr/>
          <p:nvPr/>
        </p:nvSpPr>
        <p:spPr>
          <a:xfrm>
            <a:off x="-787" y="5003763"/>
            <a:ext cx="30276000" cy="3780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 sz="1328" noProof="0" dirty="0">
              <a:highlight>
                <a:srgbClr val="8F1329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8" name="Rectangle: Rounded Corners 1067">
                <a:extLst>
                  <a:ext uri="{FF2B5EF4-FFF2-40B4-BE49-F238E27FC236}">
                    <a16:creationId xmlns:a16="http://schemas.microsoft.com/office/drawing/2014/main" id="{D145DA5D-DAD1-E7DC-DE45-D953E3E81520}"/>
                  </a:ext>
                </a:extLst>
              </p:cNvPr>
              <p:cNvSpPr/>
              <p:nvPr/>
            </p:nvSpPr>
            <p:spPr>
              <a:xfrm>
                <a:off x="9719999" y="5399998"/>
                <a:ext cx="20195213" cy="25751691"/>
              </a:xfrm>
              <a:prstGeom prst="roundRect">
                <a:avLst>
                  <a:gd name="adj" fmla="val 0"/>
                </a:avLst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lIns="132786" tIns="0" rIns="265572" bIns="132786" rtlCol="0" anchor="t"/>
              <a:lstStyle/>
              <a:p>
                <a:pPr algn="ctr"/>
                <a:r>
                  <a:rPr lang="en-HK" sz="5400" b="1" dirty="0">
                    <a:solidFill>
                      <a:srgbClr val="8F1329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j-lt"/>
                  </a:rPr>
                  <a:t>Results &amp; Findings</a:t>
                </a:r>
                <a:endParaRPr lang="en-HK" sz="5400" b="1" noProof="0" dirty="0">
                  <a:solidFill>
                    <a:srgbClr val="8F132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HK" sz="3200" dirty="0">
                    <a:solidFill>
                      <a:srgbClr val="138F79"/>
                    </a:solidFill>
                    <a:latin typeface="+mj-lt"/>
                  </a:rPr>
                  <a:t>Occupational stereotypes emerged in </a:t>
                </a:r>
                <a:r>
                  <a:rPr lang="en-HK" sz="3200" b="1" dirty="0">
                    <a:solidFill>
                      <a:srgbClr val="138F79"/>
                    </a:solidFill>
                    <a:latin typeface="+mj-lt"/>
                  </a:rPr>
                  <a:t>both languages</a:t>
                </a:r>
                <a:r>
                  <a:rPr lang="en-HK" sz="3200" dirty="0">
                    <a:solidFill>
                      <a:srgbClr val="138F79"/>
                    </a:solidFill>
                    <a:latin typeface="+mj-lt"/>
                  </a:rPr>
                  <a:t>, according to expectations.</a:t>
                </a: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HK" sz="3200" dirty="0">
                    <a:solidFill>
                      <a:srgbClr val="138F79"/>
                    </a:solidFill>
                  </a:rPr>
                  <a:t>Participant gender may </a:t>
                </a:r>
                <a:r>
                  <a:rPr lang="en-HK" sz="3200" b="1" dirty="0">
                    <a:solidFill>
                      <a:srgbClr val="138F79"/>
                    </a:solidFill>
                  </a:rPr>
                  <a:t>influence</a:t>
                </a:r>
                <a:r>
                  <a:rPr lang="en-HK" sz="3200" dirty="0">
                    <a:solidFill>
                      <a:srgbClr val="138F79"/>
                    </a:solidFill>
                  </a:rPr>
                  <a:t> the intensity of occupational gender stereotypes: 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endParaRPr lang="en-HK" sz="32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chemeClr val="tx1"/>
                  </a:solidFill>
                  <a:latin typeface="+mj-lt"/>
                </a:endParaRP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HK" sz="3200" dirty="0">
                    <a:solidFill>
                      <a:srgbClr val="138F79"/>
                    </a:solidFill>
                  </a:rPr>
                  <a:t>Most stereotypes were shared </a:t>
                </a:r>
                <a:r>
                  <a:rPr lang="en-HK" sz="3200" b="1" dirty="0">
                    <a:solidFill>
                      <a:srgbClr val="138F79"/>
                    </a:solidFill>
                  </a:rPr>
                  <a:t>cross-linguistically</a:t>
                </a:r>
                <a:r>
                  <a:rPr lang="en-HK" sz="3200" dirty="0">
                    <a:solidFill>
                      <a:srgbClr val="138F79"/>
                    </a:solidFill>
                  </a:rPr>
                  <a:t>, but there were differences: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endParaRPr lang="en-HK" sz="2800" dirty="0">
                  <a:solidFill>
                    <a:srgbClr val="138F79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endParaRPr lang="en-HK" sz="2800" dirty="0">
                  <a:solidFill>
                    <a:schemeClr val="tx1"/>
                  </a:solidFill>
                </a:endParaRPr>
              </a:p>
              <a:p>
                <a:pPr marL="914400" lvl="1" indent="-457200">
                  <a:buFont typeface="Wingdings" panose="05000000000000000000" pitchFamily="2" charset="2"/>
                  <a:buChar char="v"/>
                </a:pPr>
                <a:r>
                  <a:rPr lang="en-HK" sz="2800" dirty="0">
                    <a:solidFill>
                      <a:schemeClr val="tx1"/>
                    </a:solidFill>
                  </a:rPr>
                  <a:t>Most occupations showed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similar gender associations </a:t>
                </a:r>
                <a:r>
                  <a:rPr lang="en-HK" sz="2800" dirty="0">
                    <a:solidFill>
                      <a:schemeClr val="tx1"/>
                    </a:solidFill>
                  </a:rPr>
                  <a:t>across the two languages.</a:t>
                </a:r>
              </a:p>
              <a:p>
                <a:pPr marL="914400" lvl="1" indent="-457200">
                  <a:buFont typeface="Wingdings" panose="05000000000000000000" pitchFamily="2" charset="2"/>
                  <a:buChar char="v"/>
                </a:pPr>
                <a:r>
                  <a:rPr lang="en-HK" sz="2800" dirty="0">
                    <a:solidFill>
                      <a:schemeClr val="tx1"/>
                    </a:solidFill>
                  </a:rPr>
                  <a:t>However, several occupations (</a:t>
                </a:r>
                <a:r>
                  <a:rPr lang="en-HK" sz="2800" i="1" dirty="0">
                    <a:solidFill>
                      <a:schemeClr val="tx1"/>
                    </a:solidFill>
                  </a:rPr>
                  <a:t>hairdresser, waiter</a:t>
                </a:r>
                <a:r>
                  <a:rPr lang="en-HK" sz="2800" dirty="0">
                    <a:solidFill>
                      <a:schemeClr val="tx1"/>
                    </a:solidFill>
                  </a:rPr>
                  <a:t>) revealed notable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cultural</a:t>
                </a:r>
                <a:r>
                  <a:rPr lang="en-HK" sz="2800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differences</a:t>
                </a:r>
                <a:r>
                  <a:rPr lang="en-HK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914400" lvl="1" indent="-457200">
                  <a:buFont typeface="Wingdings" panose="05000000000000000000" pitchFamily="2" charset="2"/>
                  <a:buChar char="v"/>
                </a:pPr>
                <a:r>
                  <a:rPr lang="en-HK" sz="2800" dirty="0">
                    <a:solidFill>
                      <a:schemeClr val="tx1"/>
                    </a:solidFill>
                  </a:rPr>
                  <a:t>In general, </a:t>
                </a:r>
                <a:r>
                  <a:rPr lang="en-HK" sz="2800" b="1" dirty="0">
                    <a:solidFill>
                      <a:srgbClr val="87C55F"/>
                    </a:solidFill>
                  </a:rPr>
                  <a:t>Hungarians</a:t>
                </a:r>
                <a:r>
                  <a:rPr lang="en-HK" sz="2800" dirty="0">
                    <a:solidFill>
                      <a:schemeClr val="tx1"/>
                    </a:solidFill>
                  </a:rPr>
                  <a:t> had stronger biases than </a:t>
                </a:r>
                <a:r>
                  <a:rPr lang="en-HK" sz="2800" b="1" dirty="0">
                    <a:solidFill>
                      <a:srgbClr val="C55F5F"/>
                    </a:solidFill>
                  </a:rPr>
                  <a:t>Chinese</a:t>
                </a:r>
                <a:r>
                  <a:rPr lang="en-HK" sz="2800" dirty="0">
                    <a:solidFill>
                      <a:schemeClr val="tx1"/>
                    </a:solidFill>
                  </a:rPr>
                  <a:t> speakers, in almost 3x of cases.</a:t>
                </a:r>
              </a:p>
              <a:p>
                <a:pPr marL="914400" lvl="1" indent="-457200">
                  <a:buFont typeface="Wingdings" panose="05000000000000000000" pitchFamily="2" charset="2"/>
                  <a:buChar char="v"/>
                </a:pPr>
                <a:r>
                  <a:rPr lang="en-HK" sz="2800" dirty="0">
                    <a:solidFill>
                      <a:schemeClr val="tx1"/>
                    </a:solidFill>
                  </a:rPr>
                  <a:t>Biases in Hungarian – both male and female – were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stronger</a:t>
                </a:r>
                <a:r>
                  <a:rPr lang="en-HK" sz="2800" dirty="0">
                    <a:solidFill>
                      <a:schemeClr val="tx1"/>
                    </a:solidFill>
                  </a:rPr>
                  <a:t> when rated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by</a:t>
                </a:r>
                <a:r>
                  <a:rPr lang="en-HK" sz="2800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b="1" dirty="0">
                    <a:solidFill>
                      <a:srgbClr val="9EB9F3"/>
                    </a:solidFill>
                  </a:rPr>
                  <a:t>men</a:t>
                </a:r>
                <a:r>
                  <a:rPr lang="en-HK" sz="2800" dirty="0">
                    <a:solidFill>
                      <a:schemeClr val="tx1"/>
                    </a:solidFill>
                  </a:rPr>
                  <a:t>, </a:t>
                </a:r>
                <a:br>
                  <a:rPr lang="en-HK" sz="2800" dirty="0">
                    <a:solidFill>
                      <a:schemeClr val="tx1"/>
                    </a:solidFill>
                  </a:rPr>
                </a:br>
                <a:r>
                  <a:rPr lang="en-HK" sz="2800" dirty="0">
                    <a:solidFill>
                      <a:schemeClr val="tx1"/>
                    </a:solidFill>
                  </a:rPr>
                  <a:t>while biases in Chinese were stronger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by</a:t>
                </a:r>
                <a:r>
                  <a:rPr lang="en-HK" sz="2800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b="1" dirty="0">
                    <a:solidFill>
                      <a:srgbClr val="DCB0F2"/>
                    </a:solidFill>
                  </a:rPr>
                  <a:t>women </a:t>
                </a:r>
                <a:r>
                  <a:rPr lang="en-HK" sz="2800" dirty="0">
                    <a:solidFill>
                      <a:schemeClr val="tx1"/>
                    </a:solidFill>
                  </a:rPr>
                  <a:t>– slightly more towards males; see matrix:</a:t>
                </a: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spcBef>
                    <a:spcPts val="2400"/>
                  </a:spcBef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en-HK" sz="3200" dirty="0">
                    <a:solidFill>
                      <a:srgbClr val="138F79"/>
                    </a:solidFill>
                  </a:rPr>
                  <a:t>LLM ratings </a:t>
                </a:r>
                <a:r>
                  <a:rPr lang="en-HK" sz="3200" b="1" dirty="0">
                    <a:solidFill>
                      <a:srgbClr val="138F79"/>
                    </a:solidFill>
                  </a:rPr>
                  <a:t>closely matched </a:t>
                </a:r>
                <a:r>
                  <a:rPr lang="en-HK" sz="3200" dirty="0">
                    <a:solidFill>
                      <a:srgbClr val="138F79"/>
                    </a:solidFill>
                  </a:rPr>
                  <a:t>human judgements, but they were </a:t>
                </a:r>
                <a:r>
                  <a:rPr lang="en-HK" sz="3200" b="1" dirty="0">
                    <a:solidFill>
                      <a:srgbClr val="138F79"/>
                    </a:solidFill>
                  </a:rPr>
                  <a:t>even stronger</a:t>
                </a:r>
                <a:r>
                  <a:rPr lang="en-HK" sz="3200" dirty="0">
                    <a:solidFill>
                      <a:srgbClr val="138F79"/>
                    </a:solidFill>
                  </a:rPr>
                  <a:t>: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endParaRPr lang="en-HK" sz="3200" dirty="0">
                  <a:solidFill>
                    <a:srgbClr val="138F79"/>
                  </a:solidFill>
                </a:endParaRPr>
              </a:p>
              <a:p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rgbClr val="138F79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endParaRPr lang="en-HK" sz="2800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HK" sz="2800" dirty="0">
                    <a:solidFill>
                      <a:schemeClr val="tx1"/>
                    </a:solidFill>
                  </a:rPr>
                  <a:t>LLMs showed strong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positive correlations </a:t>
                </a:r>
                <a:r>
                  <a:rPr lang="en-HK" sz="2800" dirty="0">
                    <a:solidFill>
                      <a:schemeClr val="tx1"/>
                    </a:solidFill>
                  </a:rPr>
                  <a:t>with human judgments; w/ Mistral (France) and DeepSeek (China) performing best. </a:t>
                </a: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r>
                  <a:rPr lang="en-HK" sz="2800" dirty="0">
                    <a:solidFill>
                      <a:schemeClr val="tx1"/>
                    </a:solidFill>
                  </a:rPr>
                  <a:t>However,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gender biases </a:t>
                </a:r>
                <a:r>
                  <a:rPr lang="en-HK" sz="2800" dirty="0">
                    <a:solidFill>
                      <a:schemeClr val="tx1"/>
                    </a:solidFill>
                  </a:rPr>
                  <a:t>were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dirty="0">
                    <a:solidFill>
                      <a:schemeClr val="tx1"/>
                    </a:solidFill>
                  </a:rPr>
                  <a:t>observed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dirty="0">
                    <a:solidFill>
                      <a:schemeClr val="tx1"/>
                    </a:solidFill>
                  </a:rPr>
                  <a:t>to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dirty="0">
                    <a:solidFill>
                      <a:schemeClr val="tx1"/>
                    </a:solidFill>
                  </a:rPr>
                  <a:t>be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b="1" i="1" dirty="0">
                    <a:solidFill>
                      <a:schemeClr val="tx1"/>
                    </a:solidFill>
                  </a:rPr>
                  <a:t>stronger </a:t>
                </a:r>
                <a:r>
                  <a:rPr lang="en-HK" sz="2800" dirty="0">
                    <a:solidFill>
                      <a:schemeClr val="tx1"/>
                    </a:solidFill>
                  </a:rPr>
                  <a:t>in LLMs. Models produce more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 extreme gender</a:t>
                </a:r>
                <a:r>
                  <a:rPr lang="en-HK" sz="2800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associations</a:t>
                </a:r>
                <a:r>
                  <a:rPr lang="en-HK" sz="2800" dirty="0">
                    <a:solidFill>
                      <a:schemeClr val="tx1"/>
                    </a:solidFill>
                  </a:rPr>
                  <a:t>. </a:t>
                </a:r>
                <a:br>
                  <a:rPr 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HK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HK" sz="2800" dirty="0">
                    <a:solidFill>
                      <a:schemeClr val="tx1"/>
                    </a:solidFill>
                  </a:rPr>
                  <a:t>LLMs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may</a:t>
                </a:r>
                <a:r>
                  <a:rPr lang="en-HK" sz="2800" dirty="0">
                    <a:solidFill>
                      <a:schemeClr val="tx1"/>
                    </a:solidFill>
                  </a:rPr>
                  <a:t> </a:t>
                </a:r>
                <a:r>
                  <a:rPr lang="en-HK" sz="2800" b="1" dirty="0">
                    <a:solidFill>
                      <a:schemeClr val="tx1"/>
                    </a:solidFill>
                  </a:rPr>
                  <a:t>amplify</a:t>
                </a:r>
                <a:r>
                  <a:rPr lang="en-HK" sz="2800" dirty="0">
                    <a:solidFill>
                      <a:schemeClr val="tx1"/>
                    </a:solidFill>
                  </a:rPr>
                  <a:t> existing social stereotypes!</a:t>
                </a:r>
                <a:endParaRPr lang="en-HK" sz="2800" dirty="0">
                  <a:solidFill>
                    <a:srgbClr val="138F79"/>
                  </a:solidFill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chemeClr val="tx1"/>
                  </a:solidFill>
                  <a:latin typeface="+mj-lt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endParaRPr lang="en-HK" sz="3200" dirty="0">
                  <a:solidFill>
                    <a:schemeClr val="tx1"/>
                  </a:solidFill>
                  <a:latin typeface="+mj-lt"/>
                </a:endParaRPr>
              </a:p>
              <a:p>
                <a:endParaRPr lang="en-HK" sz="3200" dirty="0">
                  <a:solidFill>
                    <a:schemeClr val="tx1"/>
                  </a:solidFill>
                  <a:latin typeface="+mj-lt"/>
                </a:endParaRP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endParaRPr lang="en-HK" sz="3200" dirty="0">
                  <a:solidFill>
                    <a:schemeClr val="tx1"/>
                  </a:solidFill>
                  <a:latin typeface="+mj-lt"/>
                </a:endParaRPr>
              </a:p>
              <a:p>
                <a:endParaRPr lang="en-HK" sz="3200" dirty="0">
                  <a:solidFill>
                    <a:schemeClr val="tx1"/>
                  </a:solidFill>
                  <a:latin typeface="+mj-lt"/>
                </a:endParaRPr>
              </a:p>
              <a:p>
                <a:endParaRPr lang="en-HK" sz="2800" dirty="0">
                  <a:solidFill>
                    <a:schemeClr val="tx1"/>
                  </a:solidFill>
                  <a:latin typeface="+mj-lt"/>
                </a:endParaRPr>
              </a:p>
              <a:p>
                <a:pPr marL="457200" indent="-457200">
                  <a:buFont typeface="Wingdings" panose="05000000000000000000" pitchFamily="2" charset="2"/>
                  <a:buChar char="v"/>
                </a:pPr>
                <a:endParaRPr lang="en-HK" sz="5400" noProof="0" dirty="0">
                  <a:solidFill>
                    <a:srgbClr val="8F1329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68" name="Rectangle: Rounded Corners 1067">
                <a:extLst>
                  <a:ext uri="{FF2B5EF4-FFF2-40B4-BE49-F238E27FC236}">
                    <a16:creationId xmlns:a16="http://schemas.microsoft.com/office/drawing/2014/main" id="{D145DA5D-DAD1-E7DC-DE45-D953E3E815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999" y="5399998"/>
                <a:ext cx="20195213" cy="25751691"/>
              </a:xfrm>
              <a:prstGeom prst="roundRect">
                <a:avLst>
                  <a:gd name="adj" fmla="val 0"/>
                </a:avLst>
              </a:prstGeom>
              <a:blipFill>
                <a:blip r:embed="rId3"/>
                <a:stretch>
                  <a:fillRect l="-573" t="-852" b="-6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546B142-7D4C-540B-4517-7ABA1FA9FEF4}"/>
              </a:ext>
            </a:extLst>
          </p:cNvPr>
          <p:cNvSpPr txBox="1"/>
          <p:nvPr/>
        </p:nvSpPr>
        <p:spPr>
          <a:xfrm>
            <a:off x="6456202" y="180000"/>
            <a:ext cx="20018475" cy="4361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HK" sz="6000" b="1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Occupational Gender Bias in Ungendered Languages and LLMs: Comparing Hungarian and Chinese</a:t>
            </a:r>
          </a:p>
          <a:p>
            <a:pPr algn="ctr">
              <a:spcAft>
                <a:spcPts val="1200"/>
              </a:spcAft>
            </a:pPr>
            <a:r>
              <a:rPr lang="en-HK" sz="4400" noProof="0" dirty="0">
                <a:solidFill>
                  <a:srgbClr val="138F79"/>
                </a:solidFill>
                <a:latin typeface="+mj-lt"/>
              </a:rPr>
              <a:t>Gábor </a:t>
            </a:r>
            <a:r>
              <a:rPr lang="en-HK" sz="4400" b="1" noProof="0" dirty="0">
                <a:solidFill>
                  <a:srgbClr val="138F79"/>
                </a:solidFill>
                <a:latin typeface="+mj-lt"/>
              </a:rPr>
              <a:t>PARTI</a:t>
            </a:r>
            <a:r>
              <a:rPr lang="en-HK" sz="4400" noProof="0" dirty="0">
                <a:solidFill>
                  <a:srgbClr val="138F79"/>
                </a:solidFill>
                <a:latin typeface="+mj-lt"/>
              </a:rPr>
              <a:t>,    Wenhui </a:t>
            </a:r>
            <a:r>
              <a:rPr lang="en-HK" sz="4400" b="1" dirty="0">
                <a:solidFill>
                  <a:srgbClr val="138F79"/>
                </a:solidFill>
                <a:latin typeface="+mj-lt"/>
              </a:rPr>
              <a:t>ZHAO</a:t>
            </a:r>
            <a:r>
              <a:rPr lang="en-HK" sz="4400" dirty="0">
                <a:solidFill>
                  <a:srgbClr val="138F79"/>
                </a:solidFill>
                <a:latin typeface="+mj-lt"/>
              </a:rPr>
              <a:t> </a:t>
            </a:r>
            <a:r>
              <a:rPr lang="zh-CN" altLang="en-US" sz="4400" dirty="0">
                <a:solidFill>
                  <a:srgbClr val="138F79"/>
                </a:solidFill>
                <a:latin typeface="+mj-lt"/>
              </a:rPr>
              <a:t>赵雯卉</a:t>
            </a:r>
            <a:r>
              <a:rPr lang="en-HK" sz="4400" dirty="0">
                <a:solidFill>
                  <a:srgbClr val="138F79"/>
                </a:solidFill>
                <a:latin typeface="+mj-lt"/>
              </a:rPr>
              <a:t>,    </a:t>
            </a:r>
            <a:r>
              <a:rPr lang="en-HK" sz="4400" noProof="0" dirty="0">
                <a:solidFill>
                  <a:srgbClr val="138F79"/>
                </a:solidFill>
                <a:latin typeface="+mj-lt"/>
              </a:rPr>
              <a:t>Yu-Yin </a:t>
            </a:r>
            <a:r>
              <a:rPr lang="en-HK" sz="4400" b="1" dirty="0">
                <a:solidFill>
                  <a:srgbClr val="138F79"/>
                </a:solidFill>
                <a:latin typeface="+mj-lt"/>
              </a:rPr>
              <a:t>HSU</a:t>
            </a:r>
            <a:r>
              <a:rPr lang="en-HK" sz="4400" dirty="0">
                <a:solidFill>
                  <a:srgbClr val="138F79"/>
                </a:solidFill>
                <a:latin typeface="+mj-lt"/>
              </a:rPr>
              <a:t> </a:t>
            </a:r>
            <a:r>
              <a:rPr lang="zh-CN" altLang="en-US" sz="4400" dirty="0">
                <a:solidFill>
                  <a:srgbClr val="138F79"/>
                </a:solidFill>
                <a:latin typeface="+mj-lt"/>
              </a:rPr>
              <a:t>許又尹</a:t>
            </a:r>
            <a:endParaRPr lang="en-HK" sz="4400" dirty="0">
              <a:solidFill>
                <a:srgbClr val="138F79"/>
              </a:solidFill>
              <a:latin typeface="+mj-lt"/>
            </a:endParaRPr>
          </a:p>
          <a:p>
            <a:pPr algn="ctr">
              <a:spcAft>
                <a:spcPts val="1200"/>
              </a:spcAft>
            </a:pPr>
            <a:r>
              <a:rPr lang="en-HK" sz="4800" cap="small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EB Garamond" pitchFamily="2" charset="0"/>
                <a:cs typeface="EB Garamond" pitchFamily="2" charset="0"/>
              </a:rPr>
              <a:t>The Hong Kong Polytechnic University    |    </a:t>
            </a:r>
            <a:r>
              <a:rPr lang="en-HK" sz="4800" noProof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香港理工大學</a:t>
            </a:r>
            <a:endParaRPr lang="en-HK" sz="4800" cap="small" noProof="0" dirty="0">
              <a:solidFill>
                <a:schemeClr val="tx1">
                  <a:lumMod val="85000"/>
                  <a:lumOff val="15000"/>
                </a:schemeClr>
              </a:solidFill>
              <a:latin typeface="SimSun" panose="02010600030101010101" pitchFamily="2" charset="-122"/>
              <a:ea typeface="SimSun" panose="02010600030101010101" pitchFamily="2" charset="-122"/>
              <a:cs typeface="EB Garamond" pitchFamily="2" charset="0"/>
            </a:endParaRPr>
          </a:p>
          <a:p>
            <a:pPr algn="ctr"/>
            <a:r>
              <a:rPr lang="en-HK" sz="3541" noProof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EB Garamond" pitchFamily="2" charset="0"/>
                <a:cs typeface="EB Garamond" pitchFamily="2" charset="0"/>
              </a:rPr>
              <a:t>gabor.parti@connect.polyu.hk, wenhui.zhao@connect.polyu.hk, yu-yin.hsu@polyu.edu.hk</a:t>
            </a:r>
            <a:endParaRPr lang="en-HK" sz="4426" noProof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EB Garamond" pitchFamily="2" charset="0"/>
              <a:cs typeface="EB Garamond" pitchFamily="2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974D04-1DC0-F8BA-4DFC-FED4E3C74C6C}"/>
              </a:ext>
            </a:extLst>
          </p:cNvPr>
          <p:cNvSpPr/>
          <p:nvPr/>
        </p:nvSpPr>
        <p:spPr>
          <a:xfrm>
            <a:off x="360000" y="5399999"/>
            <a:ext cx="9000000" cy="1836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solidFill>
              <a:srgbClr val="8F132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2786" tIns="0" rIns="265572" bIns="132786" rtlCol="0" anchor="t"/>
          <a:lstStyle/>
          <a:p>
            <a:pPr algn="ctr">
              <a:spcBef>
                <a:spcPts val="600"/>
              </a:spcBef>
            </a:pPr>
            <a:r>
              <a:rPr lang="en-HK" sz="5400" b="1" noProof="0">
                <a:solidFill>
                  <a:srgbClr val="8F13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Introduction</a:t>
            </a:r>
            <a:endParaRPr lang="en-HK" sz="5400" b="1" noProof="0" dirty="0">
              <a:solidFill>
                <a:srgbClr val="8F132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  <a:p>
            <a:pPr algn="just">
              <a:spcAft>
                <a:spcPts val="600"/>
              </a:spcAft>
            </a:pPr>
            <a:r>
              <a:rPr lang="en-HK" sz="2800" b="1" dirty="0">
                <a:solidFill>
                  <a:schemeClr val="tx1"/>
                </a:solidFill>
              </a:rPr>
              <a:t>Occupational gender stereotypes</a:t>
            </a:r>
            <a:r>
              <a:rPr lang="en-HK" sz="2800" dirty="0">
                <a:solidFill>
                  <a:schemeClr val="tx1"/>
                </a:solidFill>
              </a:rPr>
              <a:t>: generalizations about the roles and characteristics of individuals in a certain group of the workforce.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HK" sz="2800" dirty="0">
                <a:solidFill>
                  <a:schemeClr val="tx1"/>
                </a:solidFill>
              </a:rPr>
              <a:t>People often </a:t>
            </a:r>
            <a:r>
              <a:rPr lang="en-HK" sz="2800" b="1" dirty="0">
                <a:solidFill>
                  <a:schemeClr val="tx1"/>
                </a:solidFill>
              </a:rPr>
              <a:t>associate </a:t>
            </a:r>
            <a:br>
              <a:rPr lang="en-HK" sz="2800" b="1" dirty="0">
                <a:solidFill>
                  <a:schemeClr val="tx1"/>
                </a:solidFill>
              </a:rPr>
            </a:br>
            <a:r>
              <a:rPr lang="en-HK" sz="2800" dirty="0">
                <a:solidFill>
                  <a:schemeClr val="tx1"/>
                </a:solidFill>
              </a:rPr>
              <a:t>certain professions </a:t>
            </a:r>
            <a:br>
              <a:rPr lang="en-HK" sz="2800" dirty="0">
                <a:solidFill>
                  <a:schemeClr val="tx1"/>
                </a:solidFill>
              </a:rPr>
            </a:br>
            <a:r>
              <a:rPr lang="en-HK" sz="2800" dirty="0">
                <a:solidFill>
                  <a:schemeClr val="tx1"/>
                </a:solidFill>
              </a:rPr>
              <a:t>with </a:t>
            </a:r>
            <a:r>
              <a:rPr lang="en-HK" sz="2800" b="1" dirty="0">
                <a:solidFill>
                  <a:schemeClr val="tx1"/>
                </a:solidFill>
              </a:rPr>
              <a:t>men</a:t>
            </a:r>
            <a:r>
              <a:rPr lang="en-HK" sz="2800" dirty="0">
                <a:solidFill>
                  <a:schemeClr val="tx1"/>
                </a:solidFill>
              </a:rPr>
              <a:t> or </a:t>
            </a:r>
            <a:r>
              <a:rPr lang="en-HK" sz="2800" b="1" dirty="0">
                <a:solidFill>
                  <a:schemeClr val="tx1"/>
                </a:solidFill>
              </a:rPr>
              <a:t>women</a:t>
            </a:r>
            <a:r>
              <a:rPr lang="en-HK" sz="2800" dirty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HK" sz="2800" dirty="0">
                <a:solidFill>
                  <a:schemeClr val="tx1"/>
                </a:solidFill>
              </a:rPr>
              <a:t>Some languages have </a:t>
            </a:r>
            <a:r>
              <a:rPr lang="en-HK" sz="2800" b="1" dirty="0">
                <a:solidFill>
                  <a:schemeClr val="tx1"/>
                </a:solidFill>
              </a:rPr>
              <a:t>grammatical</a:t>
            </a:r>
            <a:r>
              <a:rPr lang="en-HK" sz="2800" dirty="0">
                <a:solidFill>
                  <a:schemeClr val="tx1"/>
                </a:solidFill>
              </a:rPr>
              <a:t> </a:t>
            </a:r>
            <a:r>
              <a:rPr lang="en-HK" sz="2800" b="1" dirty="0">
                <a:solidFill>
                  <a:schemeClr val="tx1"/>
                </a:solidFill>
              </a:rPr>
              <a:t>gender</a:t>
            </a:r>
            <a:r>
              <a:rPr lang="en-HK" sz="2800" dirty="0">
                <a:solidFill>
                  <a:schemeClr val="tx1"/>
                </a:solidFill>
              </a:rPr>
              <a:t>, and occupational nouns are </a:t>
            </a:r>
            <a:r>
              <a:rPr lang="en-HK" sz="2800" b="1" dirty="0">
                <a:solidFill>
                  <a:schemeClr val="tx1"/>
                </a:solidFill>
              </a:rPr>
              <a:t>explicitly gendered</a:t>
            </a:r>
            <a:r>
              <a:rPr lang="en-HK" sz="2800" dirty="0">
                <a:solidFill>
                  <a:schemeClr val="tx1"/>
                </a:solidFill>
              </a:rPr>
              <a:t>. 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 algn="just">
              <a:spcAft>
                <a:spcPts val="600"/>
              </a:spcAft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HK" sz="2800" dirty="0">
                <a:solidFill>
                  <a:schemeClr val="tx1"/>
                </a:solidFill>
              </a:rPr>
              <a:t>Lot of research on Indo-European languages with grammatical gender, </a:t>
            </a:r>
            <a:r>
              <a:rPr lang="en-HK" sz="2800" b="1" dirty="0">
                <a:solidFill>
                  <a:schemeClr val="tx1"/>
                </a:solidFill>
              </a:rPr>
              <a:t>less</a:t>
            </a:r>
            <a:r>
              <a:rPr lang="en-HK" sz="2800" dirty="0">
                <a:solidFill>
                  <a:schemeClr val="tx1"/>
                </a:solidFill>
              </a:rPr>
              <a:t> on other language families.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HK" sz="2800" dirty="0">
                <a:solidFill>
                  <a:schemeClr val="tx1"/>
                </a:solidFill>
              </a:rPr>
              <a:t>How about occupational gender </a:t>
            </a:r>
            <a:r>
              <a:rPr lang="en-HK" sz="2800" b="1" dirty="0">
                <a:solidFill>
                  <a:schemeClr val="tx1"/>
                </a:solidFill>
              </a:rPr>
              <a:t>bias</a:t>
            </a:r>
            <a:r>
              <a:rPr lang="en-HK" sz="2800" dirty="0">
                <a:solidFill>
                  <a:schemeClr val="tx1"/>
                </a:solidFill>
              </a:rPr>
              <a:t> in </a:t>
            </a:r>
            <a:r>
              <a:rPr lang="en-HK" sz="2800" b="1" dirty="0">
                <a:solidFill>
                  <a:schemeClr val="tx1"/>
                </a:solidFill>
              </a:rPr>
              <a:t>linguistically ungendered languages</a:t>
            </a:r>
            <a:r>
              <a:rPr lang="en-HK" sz="2800" dirty="0">
                <a:solidFill>
                  <a:schemeClr val="tx1"/>
                </a:solidFill>
              </a:rPr>
              <a:t>? </a:t>
            </a:r>
          </a:p>
          <a:p>
            <a:pPr>
              <a:spcBef>
                <a:spcPts val="600"/>
              </a:spcBef>
            </a:pPr>
            <a:r>
              <a:rPr lang="en-HK" sz="3200" b="1" dirty="0">
                <a:solidFill>
                  <a:schemeClr val="tx1"/>
                </a:solidFill>
              </a:rPr>
              <a:t>Hungarian</a:t>
            </a:r>
            <a:r>
              <a:rPr lang="en-HK" sz="3200" dirty="0">
                <a:solidFill>
                  <a:schemeClr val="tx1"/>
                </a:solidFill>
              </a:rPr>
              <a:t> &amp; </a:t>
            </a:r>
            <a:r>
              <a:rPr lang="en-HK" sz="3200" b="1" dirty="0">
                <a:solidFill>
                  <a:schemeClr val="tx1"/>
                </a:solidFill>
              </a:rPr>
              <a:t>Chinese    |    </a:t>
            </a:r>
            <a:r>
              <a:rPr lang="en-HK" sz="3200" b="1" dirty="0" err="1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匈牙利语</a:t>
            </a:r>
            <a:r>
              <a:rPr lang="en-HK" sz="3200" dirty="0" err="1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和</a:t>
            </a:r>
            <a:r>
              <a:rPr lang="en-HK" sz="3200" b="1" dirty="0" err="1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中文</a:t>
            </a:r>
            <a:endParaRPr lang="en-HK" sz="3200" b="1" dirty="0">
              <a:solidFill>
                <a:schemeClr val="tx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HK" sz="2800" dirty="0">
                <a:solidFill>
                  <a:schemeClr val="tx1"/>
                </a:solidFill>
              </a:rPr>
              <a:t>No grammatical gender</a:t>
            </a: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HK" sz="2800" dirty="0">
                <a:solidFill>
                  <a:schemeClr val="tx1"/>
                </a:solidFill>
              </a:rPr>
              <a:t>Use mostly gender-neutral occupational nouns</a:t>
            </a:r>
          </a:p>
          <a:p>
            <a:pPr algn="just">
              <a:spcBef>
                <a:spcPts val="600"/>
              </a:spcBef>
            </a:pPr>
            <a:r>
              <a:rPr lang="en-HK" sz="3200" b="1" dirty="0">
                <a:solidFill>
                  <a:schemeClr val="tx1"/>
                </a:solidFill>
              </a:rPr>
              <a:t>Human </a:t>
            </a:r>
            <a:r>
              <a:rPr lang="en-HK" sz="3200" dirty="0">
                <a:solidFill>
                  <a:schemeClr val="tx1"/>
                </a:solidFill>
              </a:rPr>
              <a:t>vs.</a:t>
            </a:r>
            <a:r>
              <a:rPr lang="en-HK" sz="3200" b="1" dirty="0">
                <a:solidFill>
                  <a:schemeClr val="tx1"/>
                </a:solidFill>
              </a:rPr>
              <a:t> AI    |    </a:t>
            </a:r>
            <a:r>
              <a:rPr lang="zh-CN" altLang="en-US" sz="3200" b="1" dirty="0">
                <a:solidFill>
                  <a:schemeClr val="tx1"/>
                </a:solidFill>
              </a:rPr>
              <a:t>人类</a:t>
            </a:r>
            <a:r>
              <a:rPr lang="zh-CN" altLang="en-US" sz="3200" dirty="0">
                <a:solidFill>
                  <a:schemeClr val="tx1"/>
                </a:solidFill>
              </a:rPr>
              <a:t>与</a:t>
            </a:r>
            <a:r>
              <a:rPr lang="zh-CN" altLang="en-US" sz="3200" b="1" dirty="0">
                <a:solidFill>
                  <a:schemeClr val="tx1"/>
                </a:solidFill>
              </a:rPr>
              <a:t>人工智能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HK" sz="2800" dirty="0">
                <a:solidFill>
                  <a:schemeClr val="tx1"/>
                </a:solidFill>
              </a:rPr>
              <a:t>LLMs train on huge amounts of human-generated text;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HK" sz="2800" dirty="0">
                <a:solidFill>
                  <a:schemeClr val="tx1"/>
                </a:solidFill>
              </a:rPr>
              <a:t>If </a:t>
            </a:r>
            <a:r>
              <a:rPr lang="en-HK" sz="2800" b="1" dirty="0">
                <a:solidFill>
                  <a:schemeClr val="tx1"/>
                </a:solidFill>
              </a:rPr>
              <a:t>occupational gender stereotypes </a:t>
            </a:r>
            <a:r>
              <a:rPr lang="en-HK" sz="2800" dirty="0">
                <a:solidFill>
                  <a:schemeClr val="tx1"/>
                </a:solidFill>
              </a:rPr>
              <a:t>are </a:t>
            </a:r>
            <a:r>
              <a:rPr lang="en-HK" sz="2800" b="1" dirty="0">
                <a:solidFill>
                  <a:schemeClr val="tx1"/>
                </a:solidFill>
              </a:rPr>
              <a:t>embedded</a:t>
            </a:r>
            <a:r>
              <a:rPr lang="en-HK" sz="2800" dirty="0">
                <a:solidFill>
                  <a:schemeClr val="tx1"/>
                </a:solidFill>
              </a:rPr>
              <a:t> in language, the models will </a:t>
            </a:r>
            <a:r>
              <a:rPr lang="en-HK" sz="2800" b="1" dirty="0">
                <a:solidFill>
                  <a:schemeClr val="tx1"/>
                </a:solidFill>
              </a:rPr>
              <a:t>reproduce</a:t>
            </a:r>
            <a:r>
              <a:rPr lang="en-HK" sz="2800" dirty="0">
                <a:solidFill>
                  <a:schemeClr val="tx1"/>
                </a:solidFill>
              </a:rPr>
              <a:t> them. </a:t>
            </a:r>
            <a:endParaRPr lang="en-HK" sz="3200" b="1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DBF8FB6-971F-FD81-79F5-8D96BD3D59B7}"/>
              </a:ext>
            </a:extLst>
          </p:cNvPr>
          <p:cNvSpPr/>
          <p:nvPr/>
        </p:nvSpPr>
        <p:spPr>
          <a:xfrm>
            <a:off x="9720000" y="31500000"/>
            <a:ext cx="10800000" cy="828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solidFill>
              <a:srgbClr val="138F7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2786" tIns="0" rIns="106229" bIns="132786" rtlCol="0" anchor="t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endParaRPr lang="en-HK" sz="3200" dirty="0">
              <a:solidFill>
                <a:schemeClr val="tx1"/>
              </a:solidFill>
              <a:ea typeface="SimSong" panose="02020300000000000000" pitchFamily="18" charset="-122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HK" sz="3200" dirty="0">
              <a:solidFill>
                <a:schemeClr val="tx1"/>
              </a:solidFill>
              <a:ea typeface="SimSong" panose="02020300000000000000" pitchFamily="18" charset="-122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HK" sz="3200" dirty="0">
                <a:solidFill>
                  <a:schemeClr val="tx1"/>
                </a:solidFill>
                <a:ea typeface="SimSong" panose="02020300000000000000" pitchFamily="18" charset="-122"/>
              </a:rPr>
              <a:t>We also tested commercial LLMs in August 2025:</a:t>
            </a:r>
          </a:p>
          <a:p>
            <a:pPr lvl="1" algn="just"/>
            <a:r>
              <a:rPr lang="en-HK" sz="3200" dirty="0">
                <a:solidFill>
                  <a:schemeClr val="tx1"/>
                </a:solidFill>
                <a:ea typeface="SimSong" panose="02020300000000000000" pitchFamily="18" charset="-122"/>
              </a:rPr>
              <a:t>      ChatGPT, Copilot, DeepSeek, Gemini, and LeChat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3200" dirty="0">
              <a:solidFill>
                <a:schemeClr val="tx1"/>
              </a:solidFill>
            </a:endParaRPr>
          </a:p>
          <a:p>
            <a:pPr algn="just">
              <a:spcAft>
                <a:spcPts val="600"/>
              </a:spcAft>
            </a:pPr>
            <a:endParaRPr lang="en-HK" sz="3200" dirty="0">
              <a:solidFill>
                <a:schemeClr val="tx1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HK" sz="3200" dirty="0">
              <a:solidFill>
                <a:schemeClr val="tx1"/>
              </a:solidFill>
            </a:endParaRPr>
          </a:p>
          <a:p>
            <a:pPr marL="457200" indent="-4572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HK" sz="3200" dirty="0">
                <a:solidFill>
                  <a:schemeClr val="tx1"/>
                </a:solidFill>
              </a:rPr>
              <a:t>We prompted </a:t>
            </a:r>
            <a:r>
              <a:rPr lang="en-HK" sz="3200" b="1" dirty="0">
                <a:solidFill>
                  <a:schemeClr val="tx1"/>
                </a:solidFill>
              </a:rPr>
              <a:t>five</a:t>
            </a:r>
            <a:r>
              <a:rPr lang="en-HK" sz="3200" dirty="0">
                <a:solidFill>
                  <a:schemeClr val="tx1"/>
                </a:solidFill>
              </a:rPr>
              <a:t> AI chatbots to complete the </a:t>
            </a:r>
            <a:r>
              <a:rPr lang="en-HK" sz="3200" b="1" dirty="0">
                <a:solidFill>
                  <a:schemeClr val="tx1"/>
                </a:solidFill>
              </a:rPr>
              <a:t>same</a:t>
            </a:r>
            <a:r>
              <a:rPr lang="en-HK" sz="3200" dirty="0">
                <a:solidFill>
                  <a:schemeClr val="tx1"/>
                </a:solidFill>
              </a:rPr>
              <a:t> </a:t>
            </a:r>
            <a:r>
              <a:rPr lang="en-HK" sz="3200" b="1" dirty="0">
                <a:solidFill>
                  <a:schemeClr val="tx1"/>
                </a:solidFill>
              </a:rPr>
              <a:t>rating</a:t>
            </a:r>
            <a:r>
              <a:rPr lang="en-HK" sz="3200" dirty="0">
                <a:solidFill>
                  <a:schemeClr val="tx1"/>
                </a:solidFill>
              </a:rPr>
              <a:t> </a:t>
            </a:r>
            <a:r>
              <a:rPr lang="en-HK" sz="3200" b="1" dirty="0">
                <a:solidFill>
                  <a:schemeClr val="tx1"/>
                </a:solidFill>
              </a:rPr>
              <a:t>task</a:t>
            </a:r>
            <a:r>
              <a:rPr lang="en-HK" sz="3200" dirty="0">
                <a:solidFill>
                  <a:schemeClr val="tx1"/>
                </a:solidFill>
              </a:rPr>
              <a:t> from </a:t>
            </a:r>
            <a:r>
              <a:rPr lang="en-HK" sz="3200" b="1" dirty="0">
                <a:solidFill>
                  <a:srgbClr val="138F79"/>
                </a:solidFill>
              </a:rPr>
              <a:t>Study 1</a:t>
            </a:r>
            <a:r>
              <a:rPr lang="en-HK" sz="3200" dirty="0">
                <a:solidFill>
                  <a:schemeClr val="tx1"/>
                </a:solidFill>
              </a:rPr>
              <a:t>, with the </a:t>
            </a:r>
            <a:r>
              <a:rPr lang="en-HK" sz="3200" b="1" dirty="0">
                <a:solidFill>
                  <a:schemeClr val="tx1"/>
                </a:solidFill>
              </a:rPr>
              <a:t>same</a:t>
            </a:r>
            <a:r>
              <a:rPr lang="en-HK" sz="3200" dirty="0">
                <a:solidFill>
                  <a:schemeClr val="tx1"/>
                </a:solidFill>
              </a:rPr>
              <a:t> </a:t>
            </a:r>
            <a:r>
              <a:rPr lang="en-HK" sz="3200" b="1" dirty="0">
                <a:solidFill>
                  <a:schemeClr val="tx1"/>
                </a:solidFill>
              </a:rPr>
              <a:t>instructions</a:t>
            </a:r>
            <a:r>
              <a:rPr lang="en-HK" sz="3200" dirty="0">
                <a:solidFill>
                  <a:schemeClr val="tx1"/>
                </a:solidFill>
              </a:rPr>
              <a:t>, in </a:t>
            </a:r>
            <a:r>
              <a:rPr lang="en-HK" sz="3200" b="1" dirty="0">
                <a:solidFill>
                  <a:schemeClr val="tx1"/>
                </a:solidFill>
              </a:rPr>
              <a:t>both languages; </a:t>
            </a:r>
            <a:r>
              <a:rPr lang="en-HK" sz="3200" dirty="0">
                <a:solidFill>
                  <a:schemeClr val="tx1"/>
                </a:solidFill>
              </a:rPr>
              <a:t>repeated each </a:t>
            </a:r>
            <a:r>
              <a:rPr lang="en-HK" sz="3200" b="1" dirty="0">
                <a:solidFill>
                  <a:schemeClr val="tx1"/>
                </a:solidFill>
              </a:rPr>
              <a:t>10 times</a:t>
            </a:r>
            <a:r>
              <a:rPr lang="en-HK" sz="3200" dirty="0">
                <a:solidFill>
                  <a:schemeClr val="tx1"/>
                </a:solidFill>
              </a:rPr>
              <a:t>, then aggregated the values. </a:t>
            </a:r>
            <a:r>
              <a:rPr lang="en-HK" sz="3200" dirty="0">
                <a:solidFill>
                  <a:schemeClr val="bg2">
                    <a:lumMod val="90000"/>
                  </a:schemeClr>
                </a:solidFill>
              </a:rPr>
              <a:t>(10</a:t>
            </a:r>
            <a:r>
              <a:rPr lang="hu-HU" sz="3200" dirty="0">
                <a:solidFill>
                  <a:schemeClr val="bg2">
                    <a:lumMod val="90000"/>
                  </a:schemeClr>
                </a:solidFill>
              </a:rPr>
              <a:t>×</a:t>
            </a:r>
            <a:r>
              <a:rPr lang="en-HK" sz="3200" dirty="0">
                <a:solidFill>
                  <a:schemeClr val="bg2">
                    <a:lumMod val="90000"/>
                  </a:schemeClr>
                </a:solidFill>
              </a:rPr>
              <a:t>5</a:t>
            </a:r>
            <a:r>
              <a:rPr lang="hu-HU" sz="3200" dirty="0">
                <a:solidFill>
                  <a:schemeClr val="bg2">
                    <a:lumMod val="90000"/>
                  </a:schemeClr>
                </a:solidFill>
              </a:rPr>
              <a:t>×</a:t>
            </a:r>
            <a:r>
              <a:rPr lang="en-HK" sz="3200" dirty="0">
                <a:solidFill>
                  <a:schemeClr val="bg2">
                    <a:lumMod val="90000"/>
                  </a:schemeClr>
                </a:solidFill>
              </a:rPr>
              <a:t>2)</a:t>
            </a:r>
          </a:p>
          <a:p>
            <a:endParaRPr lang="en-HK" sz="3200" dirty="0">
              <a:solidFill>
                <a:schemeClr val="tx1"/>
              </a:solidFill>
            </a:endParaRPr>
          </a:p>
          <a:p>
            <a:endParaRPr lang="en-HK" sz="3200" dirty="0">
              <a:solidFill>
                <a:schemeClr val="tx1"/>
              </a:solidFill>
            </a:endParaRPr>
          </a:p>
          <a:p>
            <a:endParaRPr lang="en-HK" sz="32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HK" sz="3200" dirty="0">
                <a:solidFill>
                  <a:schemeClr val="tx1"/>
                </a:solidFill>
              </a:rPr>
              <a:t>Data, code, and interactive visualizations:</a:t>
            </a:r>
          </a:p>
          <a:p>
            <a:r>
              <a:rPr lang="en-HK" sz="3200" dirty="0">
                <a:solidFill>
                  <a:schemeClr val="tx1"/>
                </a:solidFill>
                <a:hlinkClick r:id="rId4"/>
              </a:rPr>
              <a:t>https://github.com/partigabor/occupational-gender-bias</a:t>
            </a:r>
            <a:r>
              <a:rPr lang="en-HK" sz="3200" dirty="0">
                <a:solidFill>
                  <a:schemeClr val="tx1"/>
                </a:solidFill>
              </a:rPr>
              <a:t>   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98C0DC-E952-F37B-4B05-471C616A4556}"/>
              </a:ext>
            </a:extLst>
          </p:cNvPr>
          <p:cNvSpPr/>
          <p:nvPr/>
        </p:nvSpPr>
        <p:spPr>
          <a:xfrm>
            <a:off x="9720000" y="40140000"/>
            <a:ext cx="20160000" cy="234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numCol="2" rtlCol="0" anchor="t"/>
          <a:lstStyle/>
          <a:p>
            <a:pPr algn="ctr"/>
            <a:r>
              <a:rPr lang="en-HK" sz="3200" b="1" noProof="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Selected References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sz="1100" b="1" dirty="0">
                <a:solidFill>
                  <a:schemeClr val="tx1"/>
                </a:solidFill>
                <a:latin typeface="+mj-lt"/>
              </a:rPr>
              <a:t>[1] 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An, H., Baumler, C., Sancheti, A., Rudinger, R.: On the mutual influence of gender and </a:t>
            </a:r>
            <a:r>
              <a:rPr lang="it-IT" sz="1100" dirty="0">
                <a:solidFill>
                  <a:schemeClr val="tx1"/>
                </a:solidFill>
                <a:latin typeface="+mj-lt"/>
              </a:rPr>
              <a:t>occupation in LLM representations. In: Che, W., Nabende, J., Shutova, E., Pilehvar, M.T. 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(eds</a:t>
            </a:r>
            <a:r>
              <a:rPr lang="en-US" sz="1100" i="1" dirty="0">
                <a:solidFill>
                  <a:schemeClr val="tx1"/>
                </a:solidFill>
                <a:latin typeface="+mj-lt"/>
              </a:rPr>
              <a:t>.) Proceedings of the 63rd Annual Meeting of the Association for Computational </a:t>
            </a:r>
            <a:r>
              <a:rPr lang="en-HK" sz="1100" i="1" dirty="0">
                <a:solidFill>
                  <a:schemeClr val="tx1"/>
                </a:solidFill>
                <a:latin typeface="+mj-lt"/>
              </a:rPr>
              <a:t>Linguistics (Volume 1: Long Papers).</a:t>
            </a:r>
            <a:r>
              <a:rPr lang="en-HK" sz="1100" dirty="0">
                <a:solidFill>
                  <a:schemeClr val="tx1"/>
                </a:solidFill>
                <a:latin typeface="+mj-lt"/>
              </a:rPr>
              <a:t> pp. 1663–1680. Vienna (Jul 2025). </a:t>
            </a:r>
            <a:r>
              <a:rPr lang="en-HK" sz="1100" dirty="0">
                <a:solidFill>
                  <a:schemeClr val="tx1"/>
                </a:solidFill>
                <a:latin typeface="+mj-lt"/>
                <a:hlinkClick r:id="rId5"/>
              </a:rPr>
              <a:t>https://doi.org/10.18653/v1/2025.acl-long.83</a:t>
            </a:r>
            <a:r>
              <a:rPr lang="en-HK" sz="11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[8] Farris, C.S.: Gender and Grammar in Chinese: With Implications for Language </a:t>
            </a:r>
            <a:r>
              <a:rPr lang="en-HK" sz="1100" dirty="0">
                <a:solidFill>
                  <a:schemeClr val="tx1"/>
                </a:solidFill>
                <a:latin typeface="+mj-lt"/>
              </a:rPr>
              <a:t>Universals. </a:t>
            </a:r>
            <a:r>
              <a:rPr lang="en-HK" sz="1100" i="1" dirty="0">
                <a:solidFill>
                  <a:schemeClr val="tx1"/>
                </a:solidFill>
                <a:latin typeface="+mj-lt"/>
              </a:rPr>
              <a:t>Modern China </a:t>
            </a:r>
            <a:r>
              <a:rPr lang="en-HK" sz="1100" b="1" dirty="0">
                <a:solidFill>
                  <a:schemeClr val="tx1"/>
                </a:solidFill>
                <a:latin typeface="+mj-lt"/>
              </a:rPr>
              <a:t>14</a:t>
            </a:r>
            <a:r>
              <a:rPr lang="en-HK" sz="1100" dirty="0">
                <a:solidFill>
                  <a:schemeClr val="tx1"/>
                </a:solidFill>
                <a:latin typeface="+mj-lt"/>
              </a:rPr>
              <a:t>(3), 277–308 (Jul 1988). </a:t>
            </a:r>
            <a:r>
              <a:rPr lang="en-HK" sz="1100" dirty="0">
                <a:solidFill>
                  <a:schemeClr val="tx1"/>
                </a:solidFill>
                <a:latin typeface="+mj-lt"/>
                <a:hlinkClick r:id="rId6"/>
              </a:rPr>
              <a:t>https://doi.org/10.3389/fpsyg.2015.01023</a:t>
            </a:r>
            <a:r>
              <a:rPr lang="en-HK" sz="11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HK" sz="1100" dirty="0">
                <a:solidFill>
                  <a:schemeClr val="tx1"/>
                </a:solidFill>
                <a:latin typeface="+mj-lt"/>
              </a:rPr>
              <a:t>[11] Gygax, P., Gabriel, U., Sarrasin, O., Oakhill, J., Garnham, A.: Generically intended, 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but specifically interpreted: When beauticians, musicians, and mechanics are all men. </a:t>
            </a:r>
            <a:r>
              <a:rPr lang="en-US" sz="1100" i="1" dirty="0">
                <a:solidFill>
                  <a:schemeClr val="tx1"/>
                </a:solidFill>
                <a:latin typeface="+mj-lt"/>
              </a:rPr>
              <a:t>Language and Cognitive Processes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+mj-lt"/>
              </a:rPr>
              <a:t>23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(3), 464–485 (Apr 2008).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[13] Hellinger, M.,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Bußmann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, H.: Gender across languages: The linguistic representation of women and men. In: Hellinger, M., </a:t>
            </a:r>
            <a:r>
              <a:rPr lang="en-US" sz="1100" dirty="0" err="1">
                <a:solidFill>
                  <a:schemeClr val="tx1"/>
                </a:solidFill>
                <a:latin typeface="+mj-lt"/>
              </a:rPr>
              <a:t>Bußmann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, H. (eds.) </a:t>
            </a:r>
            <a:r>
              <a:rPr lang="en-US" sz="1100" i="1" dirty="0">
                <a:solidFill>
                  <a:schemeClr val="tx1"/>
                </a:solidFill>
                <a:latin typeface="+mj-lt"/>
              </a:rPr>
              <a:t>Gender Across Languages: The Linguistic Representation of Women and Men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, pp. 1–25. John Benjamins, Amsterdam </a:t>
            </a:r>
            <a:r>
              <a:rPr lang="pt-BR" sz="1100" dirty="0">
                <a:solidFill>
                  <a:schemeClr val="tx1"/>
                </a:solidFill>
                <a:latin typeface="+mj-lt"/>
              </a:rPr>
              <a:t>(Apr 2003). </a:t>
            </a:r>
            <a:r>
              <a:rPr lang="pt-BR" sz="1100" dirty="0">
                <a:solidFill>
                  <a:schemeClr val="tx1"/>
                </a:solidFill>
                <a:latin typeface="+mj-lt"/>
                <a:hlinkClick r:id="rId7"/>
              </a:rPr>
              <a:t>https://doi.org/10.1075/impact.11.05hel</a:t>
            </a:r>
            <a:r>
              <a:rPr lang="pt-BR" sz="11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  <a:latin typeface="+mj-lt"/>
              </a:rPr>
              <a:t>[16] Ju, D., Ullrich, K., Williams, A.: Are female carpenters like blue bananas? A corpus investigation of occupation gender typicality. In: Ku, L.W., Martins, A., Srikumar, V. (eds.) </a:t>
            </a:r>
            <a:r>
              <a:rPr lang="en-US" sz="1100" i="1" dirty="0">
                <a:solidFill>
                  <a:schemeClr val="tx1"/>
                </a:solidFill>
                <a:latin typeface="+mj-lt"/>
              </a:rPr>
              <a:t>Findings of the Association for Computational Linguistics: ACL 2024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. pp. 4254–4274. Association for Computational Linguistics, Bangkok (Aug 2024). </a:t>
            </a:r>
            <a:r>
              <a:rPr lang="en-HK" sz="1100" dirty="0">
                <a:solidFill>
                  <a:schemeClr val="tx1"/>
                </a:solidFill>
                <a:latin typeface="+mj-lt"/>
                <a:hlinkClick r:id="rId8"/>
              </a:rPr>
              <a:t>https://doi.org/10.18653/v1/2024.findings-acl.253</a:t>
            </a:r>
            <a:endParaRPr lang="en-HK" sz="1100" dirty="0">
              <a:solidFill>
                <a:schemeClr val="tx1"/>
              </a:solidFill>
              <a:latin typeface="+mj-lt"/>
            </a:endParaRP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HK" sz="1100" dirty="0">
                <a:solidFill>
                  <a:schemeClr val="tx1"/>
                </a:solidFill>
                <a:latin typeface="+mj-lt"/>
              </a:rPr>
              <a:t>[17] Kaukonen, E., </a:t>
            </a:r>
            <a:r>
              <a:rPr lang="en-HK" sz="1100" dirty="0" err="1">
                <a:solidFill>
                  <a:schemeClr val="tx1"/>
                </a:solidFill>
                <a:latin typeface="+mj-lt"/>
              </a:rPr>
              <a:t>Oskolskaia</a:t>
            </a:r>
            <a:r>
              <a:rPr lang="en-HK" sz="1100" dirty="0">
                <a:solidFill>
                  <a:schemeClr val="tx1"/>
                </a:solidFill>
                <a:latin typeface="+mj-lt"/>
              </a:rPr>
              <a:t>, P., Lindström, L., Marling, R.: Gender, language and labour: </a:t>
            </a:r>
            <a:r>
              <a:rPr lang="en-US" sz="1100" dirty="0">
                <a:solidFill>
                  <a:schemeClr val="tx1"/>
                </a:solidFill>
                <a:latin typeface="+mj-lt"/>
              </a:rPr>
              <a:t>Gender perception of Estonian and Russian occupational titles. </a:t>
            </a:r>
            <a:r>
              <a:rPr lang="en-US" sz="1100" i="1" dirty="0">
                <a:solidFill>
                  <a:schemeClr val="tx1"/>
                </a:solidFill>
                <a:latin typeface="+mj-lt"/>
              </a:rPr>
              <a:t>Frontiers in Communication </a:t>
            </a:r>
            <a:r>
              <a:rPr lang="en-HK" sz="1100" b="1" dirty="0">
                <a:solidFill>
                  <a:schemeClr val="tx1"/>
                </a:solidFill>
                <a:latin typeface="+mj-lt"/>
              </a:rPr>
              <a:t>9</a:t>
            </a:r>
            <a:r>
              <a:rPr lang="en-HK" sz="1100" dirty="0">
                <a:solidFill>
                  <a:schemeClr val="tx1"/>
                </a:solidFill>
                <a:latin typeface="+mj-lt"/>
              </a:rPr>
              <a:t> (Jan 2025). </a:t>
            </a:r>
            <a:r>
              <a:rPr lang="en-HK" sz="1100" dirty="0">
                <a:solidFill>
                  <a:schemeClr val="tx1"/>
                </a:solidFill>
                <a:latin typeface="+mj-lt"/>
                <a:hlinkClick r:id="rId9"/>
              </a:rPr>
              <a:t>https://doi.org/10.3389/fcomm.2024.1454022</a:t>
            </a:r>
            <a:r>
              <a:rPr lang="en-HK" sz="110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</a:rPr>
              <a:t>[22] Lewis, M., </a:t>
            </a:r>
            <a:r>
              <a:rPr lang="en-US" sz="1100" dirty="0" err="1">
                <a:solidFill>
                  <a:schemeClr val="tx1"/>
                </a:solidFill>
              </a:rPr>
              <a:t>Lupyan</a:t>
            </a:r>
            <a:r>
              <a:rPr lang="en-US" sz="1100" dirty="0">
                <a:solidFill>
                  <a:schemeClr val="tx1"/>
                </a:solidFill>
              </a:rPr>
              <a:t>, G.: Gender stereotypes are reflected in the distributional structure of 25 languages. </a:t>
            </a:r>
            <a:r>
              <a:rPr lang="en-US" sz="1100" i="1" dirty="0">
                <a:solidFill>
                  <a:schemeClr val="tx1"/>
                </a:solidFill>
              </a:rPr>
              <a:t>Nature Human </a:t>
            </a:r>
            <a:r>
              <a:rPr lang="en-US" sz="1100" i="1" dirty="0" err="1">
                <a:solidFill>
                  <a:schemeClr val="tx1"/>
                </a:solidFill>
              </a:rPr>
              <a:t>Behaviour</a:t>
            </a:r>
            <a:r>
              <a:rPr lang="en-US" sz="1100" i="1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tx1"/>
                </a:solidFill>
              </a:rPr>
              <a:t>4</a:t>
            </a:r>
            <a:r>
              <a:rPr lang="en-US" sz="1100" dirty="0">
                <a:solidFill>
                  <a:schemeClr val="tx1"/>
                </a:solidFill>
              </a:rPr>
              <a:t>(10), 1021–1028 (2020). </a:t>
            </a:r>
            <a:r>
              <a:rPr lang="en-US" sz="1100" dirty="0">
                <a:solidFill>
                  <a:schemeClr val="tx1"/>
                </a:solidFill>
                <a:hlinkClick r:id="rId10"/>
              </a:rPr>
              <a:t>https://doi.org/</a:t>
            </a:r>
            <a:r>
              <a:rPr lang="en-HK" sz="1100" dirty="0">
                <a:solidFill>
                  <a:schemeClr val="tx1"/>
                </a:solidFill>
                <a:hlinkClick r:id="rId10"/>
              </a:rPr>
              <a:t>10.1038/s41562-020-0918-6</a:t>
            </a:r>
            <a:r>
              <a:rPr lang="en-HK" sz="1100" dirty="0">
                <a:solidFill>
                  <a:schemeClr val="tx1"/>
                </a:solidFill>
              </a:rPr>
              <a:t> 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HK" sz="1100" dirty="0">
                <a:solidFill>
                  <a:schemeClr val="tx1"/>
                </a:solidFill>
              </a:rPr>
              <a:t>[26] </a:t>
            </a:r>
            <a:r>
              <a:rPr lang="en-HK" sz="1100" dirty="0" err="1">
                <a:solidFill>
                  <a:schemeClr val="tx1"/>
                </a:solidFill>
              </a:rPr>
              <a:t>Misersky</a:t>
            </a:r>
            <a:r>
              <a:rPr lang="en-HK" sz="1100" dirty="0">
                <a:solidFill>
                  <a:schemeClr val="tx1"/>
                </a:solidFill>
              </a:rPr>
              <a:t>, J., Gygax, P.M., Canal, P., Gabriel, U., Garnham, A., Braun, F., Chiarini, T., Englund, K., </a:t>
            </a:r>
            <a:r>
              <a:rPr lang="en-HK" sz="1100" dirty="0" err="1">
                <a:solidFill>
                  <a:schemeClr val="tx1"/>
                </a:solidFill>
              </a:rPr>
              <a:t>Hanulikova</a:t>
            </a:r>
            <a:r>
              <a:rPr lang="en-HK" sz="1100" dirty="0">
                <a:solidFill>
                  <a:schemeClr val="tx1"/>
                </a:solidFill>
              </a:rPr>
              <a:t>, A., </a:t>
            </a:r>
            <a:r>
              <a:rPr lang="en-HK" sz="1100" dirty="0" err="1">
                <a:solidFill>
                  <a:schemeClr val="tx1"/>
                </a:solidFill>
              </a:rPr>
              <a:t>Öttl</a:t>
            </a:r>
            <a:r>
              <a:rPr lang="en-HK" sz="1100" dirty="0">
                <a:solidFill>
                  <a:schemeClr val="tx1"/>
                </a:solidFill>
              </a:rPr>
              <a:t>, A., Valdrova, J., Von Stockhausen, L., Sczesny, </a:t>
            </a:r>
            <a:r>
              <a:rPr lang="en-US" sz="1100" dirty="0">
                <a:solidFill>
                  <a:schemeClr val="tx1"/>
                </a:solidFill>
              </a:rPr>
              <a:t>S.: Norms on the gender perception of role nouns in Czech, English, French, German, Italian, Norwegian, and Slovak</a:t>
            </a:r>
            <a:r>
              <a:rPr lang="en-US" sz="1100" i="1" dirty="0">
                <a:solidFill>
                  <a:schemeClr val="tx1"/>
                </a:solidFill>
              </a:rPr>
              <a:t>. Behavior Research Methods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tx1"/>
                </a:solidFill>
              </a:rPr>
              <a:t>46</a:t>
            </a:r>
            <a:r>
              <a:rPr lang="en-US" sz="1100" dirty="0">
                <a:solidFill>
                  <a:schemeClr val="tx1"/>
                </a:solidFill>
              </a:rPr>
              <a:t>(3), 841–871 (Sep 2014). </a:t>
            </a:r>
            <a:r>
              <a:rPr lang="en-HK" sz="1100" dirty="0">
                <a:solidFill>
                  <a:schemeClr val="tx1"/>
                </a:solidFill>
                <a:hlinkClick r:id="rId11"/>
              </a:rPr>
              <a:t>https://doi.org/10.3758/s13428-013-0409-z</a:t>
            </a:r>
            <a:r>
              <a:rPr lang="en-HK" sz="1100" dirty="0">
                <a:solidFill>
                  <a:schemeClr val="tx1"/>
                </a:solidFill>
              </a:rPr>
              <a:t> 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chemeClr val="tx1"/>
                </a:solidFill>
              </a:rPr>
              <a:t>[29] Pauwels, A.: Of handymen and waitpersons: A linguistic evaluation of job classifieds. </a:t>
            </a:r>
            <a:r>
              <a:rPr lang="en-US" sz="1100" i="1" dirty="0">
                <a:solidFill>
                  <a:schemeClr val="tx1"/>
                </a:solidFill>
              </a:rPr>
              <a:t>Australian Journal of Communication</a:t>
            </a:r>
            <a:r>
              <a:rPr lang="en-US" sz="1100" dirty="0">
                <a:solidFill>
                  <a:schemeClr val="tx1"/>
                </a:solidFill>
              </a:rPr>
              <a:t> </a:t>
            </a:r>
            <a:r>
              <a:rPr lang="en-US" sz="1100" b="1" dirty="0">
                <a:solidFill>
                  <a:schemeClr val="tx1"/>
                </a:solidFill>
              </a:rPr>
              <a:t>24</a:t>
            </a:r>
            <a:r>
              <a:rPr lang="en-US" sz="1100" dirty="0">
                <a:solidFill>
                  <a:schemeClr val="tx1"/>
                </a:solidFill>
              </a:rPr>
              <a:t>(1), 58–69 (1997)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HK" sz="1100" dirty="0">
                <a:solidFill>
                  <a:schemeClr val="tx1"/>
                </a:solidFill>
              </a:rPr>
              <a:t>[33] Su, Q., Liu, P., Wei, W., Zhu, S., Huang, C.R.: Occupational gender segregation and </a:t>
            </a:r>
            <a:r>
              <a:rPr lang="en-US" sz="1100" dirty="0">
                <a:solidFill>
                  <a:schemeClr val="tx1"/>
                </a:solidFill>
              </a:rPr>
              <a:t>gendered language in a language without gender: Trends, variations, implications for </a:t>
            </a:r>
            <a:r>
              <a:rPr lang="en-HK" sz="1100" dirty="0">
                <a:solidFill>
                  <a:schemeClr val="tx1"/>
                </a:solidFill>
              </a:rPr>
              <a:t>social development in China. </a:t>
            </a:r>
            <a:r>
              <a:rPr lang="en-HK" sz="1100" i="1" dirty="0">
                <a:solidFill>
                  <a:schemeClr val="tx1"/>
                </a:solidFill>
              </a:rPr>
              <a:t>Humanities and Social Sciences Communications </a:t>
            </a:r>
            <a:r>
              <a:rPr lang="en-HK" sz="1100" b="1" dirty="0">
                <a:solidFill>
                  <a:schemeClr val="tx1"/>
                </a:solidFill>
              </a:rPr>
              <a:t>8</a:t>
            </a:r>
            <a:r>
              <a:rPr lang="en-HK" sz="1100" dirty="0">
                <a:solidFill>
                  <a:schemeClr val="tx1"/>
                </a:solidFill>
              </a:rPr>
              <a:t>(133), 1–10 (2021). </a:t>
            </a:r>
            <a:r>
              <a:rPr lang="en-HK" sz="1100" dirty="0">
                <a:solidFill>
                  <a:schemeClr val="tx1"/>
                </a:solidFill>
                <a:hlinkClick r:id="rId12"/>
              </a:rPr>
              <a:t>https://doi.org/10.1057/s41599-021-00799-6</a:t>
            </a:r>
            <a:r>
              <a:rPr lang="en-HK" sz="1100" dirty="0">
                <a:solidFill>
                  <a:schemeClr val="tx1"/>
                </a:solidFill>
              </a:rPr>
              <a:t> 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4E47E-D2FF-12AF-B232-D86AA116EBF2}"/>
              </a:ext>
            </a:extLst>
          </p:cNvPr>
          <p:cNvSpPr txBox="1"/>
          <p:nvPr/>
        </p:nvSpPr>
        <p:spPr>
          <a:xfrm>
            <a:off x="26646982" y="180000"/>
            <a:ext cx="29515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7200" b="1" noProof="0" dirty="0">
                <a:solidFill>
                  <a:srgbClr val="8F1329"/>
                </a:solidFill>
                <a:latin typeface="Agency FB" panose="020B0503020202020204" pitchFamily="34" charset="0"/>
              </a:rPr>
              <a:t>CLSW</a:t>
            </a:r>
            <a:br>
              <a:rPr lang="en-HK" sz="7200" b="1" noProof="0" dirty="0">
                <a:solidFill>
                  <a:srgbClr val="8F1329"/>
                </a:solidFill>
                <a:latin typeface="Agency FB" panose="020B0503020202020204" pitchFamily="34" charset="0"/>
              </a:rPr>
            </a:br>
            <a:r>
              <a:rPr lang="en-HK" sz="7200" b="1" noProof="0" dirty="0">
                <a:solidFill>
                  <a:srgbClr val="8F1329"/>
                </a:solidFill>
                <a:latin typeface="Agency FB" panose="020B0503020202020204" pitchFamily="34" charset="0"/>
              </a:rPr>
              <a:t>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F05A27-666C-0F76-3271-1B397DF695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6403" y="1691608"/>
            <a:ext cx="5287293" cy="15934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CDD3ED-DB77-5A49-C7A9-099EE61A88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28" y="894893"/>
            <a:ext cx="3151805" cy="31868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022562-1824-840D-2B09-C6B28650EA45}"/>
              </a:ext>
            </a:extLst>
          </p:cNvPr>
          <p:cNvSpPr txBox="1"/>
          <p:nvPr/>
        </p:nvSpPr>
        <p:spPr>
          <a:xfrm>
            <a:off x="26646982" y="2488324"/>
            <a:ext cx="29515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HK" sz="2800" noProof="0" dirty="0">
                <a:solidFill>
                  <a:srgbClr val="8F1329"/>
                </a:solidFill>
                <a:latin typeface="Agency FB" panose="020B0503020202020204" pitchFamily="34" charset="0"/>
              </a:rPr>
              <a:t>The 27th Chinese Lexical Semantics Workshop</a:t>
            </a:r>
          </a:p>
          <a:p>
            <a:pPr algn="just"/>
            <a:r>
              <a:rPr lang="en-HK" sz="3200" b="1" noProof="0" dirty="0">
                <a:solidFill>
                  <a:srgbClr val="8F1329"/>
                </a:solidFill>
                <a:latin typeface="Agency FB" panose="020B0503020202020204" pitchFamily="34" charset="0"/>
              </a:rPr>
              <a:t>2026 June 26-28</a:t>
            </a:r>
            <a:br>
              <a:rPr lang="en-HK" sz="3200" b="1" noProof="0" dirty="0">
                <a:solidFill>
                  <a:srgbClr val="8F1329"/>
                </a:solidFill>
                <a:latin typeface="Agency FB" panose="020B0503020202020204" pitchFamily="34" charset="0"/>
              </a:rPr>
            </a:br>
            <a:r>
              <a:rPr lang="en-HK" sz="3200" b="1" noProof="0" dirty="0">
                <a:solidFill>
                  <a:srgbClr val="8F1329"/>
                </a:solidFill>
                <a:latin typeface="Agency FB" panose="020B0503020202020204" pitchFamily="34" charset="0"/>
              </a:rPr>
              <a:t>Yantai, China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98C000-68A6-B909-F8E3-58788426CE55}"/>
              </a:ext>
            </a:extLst>
          </p:cNvPr>
          <p:cNvSpPr/>
          <p:nvPr/>
        </p:nvSpPr>
        <p:spPr>
          <a:xfrm>
            <a:off x="360000" y="24120000"/>
            <a:ext cx="9000000" cy="1836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solidFill>
              <a:srgbClr val="138F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2786" tIns="0" rIns="265572" bIns="132786" rtlCol="0" anchor="t"/>
          <a:lstStyle/>
          <a:p>
            <a:pPr algn="ctr">
              <a:spcBef>
                <a:spcPts val="600"/>
              </a:spcBef>
            </a:pPr>
            <a:r>
              <a:rPr lang="en-HK" sz="5400" b="1" noProof="0" dirty="0">
                <a:solidFill>
                  <a:srgbClr val="8F13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b="1" noProof="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b="1" dirty="0">
              <a:solidFill>
                <a:schemeClr val="tx1"/>
              </a:solidFill>
            </a:endParaRPr>
          </a:p>
          <a:p>
            <a:pPr marL="457200" indent="-457200" algn="just"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en-HK" sz="2800" b="1" noProof="0" dirty="0">
                <a:solidFill>
                  <a:schemeClr val="tx1"/>
                </a:solidFill>
              </a:rPr>
              <a:t>Survey-based</a:t>
            </a:r>
            <a:r>
              <a:rPr lang="en-HK" sz="2800" noProof="0" dirty="0">
                <a:solidFill>
                  <a:schemeClr val="tx1"/>
                </a:solidFill>
              </a:rPr>
              <a:t> </a:t>
            </a:r>
            <a:r>
              <a:rPr lang="en-HK" sz="2800" b="1" noProof="0" dirty="0">
                <a:solidFill>
                  <a:schemeClr val="tx1"/>
                </a:solidFill>
              </a:rPr>
              <a:t>ratings</a:t>
            </a:r>
            <a:r>
              <a:rPr lang="en-HK" sz="2800" noProof="0" dirty="0">
                <a:solidFill>
                  <a:schemeClr val="tx1"/>
                </a:solidFill>
              </a:rPr>
              <a:t>; 7-point </a:t>
            </a:r>
            <a:r>
              <a:rPr lang="en-HK" sz="2800" dirty="0">
                <a:solidFill>
                  <a:schemeClr val="tx1"/>
                </a:solidFill>
              </a:rPr>
              <a:t>Likert scale, from </a:t>
            </a:r>
            <a:r>
              <a:rPr lang="en-US" sz="2800" i="1" dirty="0">
                <a:solidFill>
                  <a:schemeClr val="tx1"/>
                </a:solidFill>
              </a:rPr>
              <a:t>completely male</a:t>
            </a:r>
            <a:r>
              <a:rPr lang="en-US" sz="2800" dirty="0">
                <a:solidFill>
                  <a:schemeClr val="tx1"/>
                </a:solidFill>
              </a:rPr>
              <a:t> (-3) to </a:t>
            </a:r>
            <a:r>
              <a:rPr lang="en-US" sz="2800" i="1" dirty="0">
                <a:solidFill>
                  <a:schemeClr val="tx1"/>
                </a:solidFill>
              </a:rPr>
              <a:t>completely </a:t>
            </a:r>
            <a:r>
              <a:rPr lang="en-HK" sz="2800" i="1" dirty="0">
                <a:solidFill>
                  <a:schemeClr val="tx1"/>
                </a:solidFill>
              </a:rPr>
              <a:t>female </a:t>
            </a:r>
            <a:r>
              <a:rPr lang="en-HK" sz="2800" dirty="0">
                <a:solidFill>
                  <a:schemeClr val="tx1"/>
                </a:solidFill>
              </a:rPr>
              <a:t>(+3);</a:t>
            </a:r>
          </a:p>
          <a:p>
            <a:pPr algn="just">
              <a:spcAft>
                <a:spcPts val="600"/>
              </a:spcAft>
            </a:pPr>
            <a:r>
              <a:rPr lang="en-HK" sz="2800" dirty="0">
                <a:solidFill>
                  <a:schemeClr val="tx1"/>
                </a:solidFill>
              </a:rPr>
              <a:t>	Participants were asked to rate on </a:t>
            </a:r>
            <a:r>
              <a:rPr lang="en-US" sz="2800" i="1" dirty="0">
                <a:solidFill>
                  <a:srgbClr val="138F79"/>
                </a:solidFill>
              </a:rPr>
              <a:t>“how likely an 	occupation is to be pursued by men or by women.”</a:t>
            </a:r>
          </a:p>
          <a:p>
            <a:pPr marL="457200" indent="-457200" algn="just">
              <a:spcBef>
                <a:spcPts val="2400"/>
              </a:spcBef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tx1"/>
                </a:solidFill>
              </a:rPr>
              <a:t>Participants</a:t>
            </a:r>
            <a:r>
              <a:rPr lang="en-US" sz="2800" dirty="0">
                <a:solidFill>
                  <a:schemeClr val="tx1"/>
                </a:solidFill>
              </a:rPr>
              <a:t>: HU </a:t>
            </a:r>
            <a:r>
              <a:rPr lang="en-US" sz="2800" i="1" dirty="0">
                <a:solidFill>
                  <a:schemeClr val="tx1"/>
                </a:solidFill>
              </a:rPr>
              <a:t>N</a:t>
            </a:r>
            <a:r>
              <a:rPr lang="en-US" sz="2800" dirty="0">
                <a:solidFill>
                  <a:schemeClr val="tx1"/>
                </a:solidFill>
              </a:rPr>
              <a:t>=83 (</a:t>
            </a:r>
            <a:r>
              <a:rPr lang="en-HK" sz="2800" dirty="0">
                <a:solidFill>
                  <a:schemeClr val="tx1"/>
                </a:solidFill>
              </a:rPr>
              <a:t>38 female) | ZH </a:t>
            </a:r>
            <a:r>
              <a:rPr lang="en-HK" sz="2800" i="1" dirty="0">
                <a:solidFill>
                  <a:schemeClr val="tx1"/>
                </a:solidFill>
              </a:rPr>
              <a:t>N</a:t>
            </a:r>
            <a:r>
              <a:rPr lang="en-HK" sz="2800" dirty="0">
                <a:solidFill>
                  <a:schemeClr val="tx1"/>
                </a:solidFill>
              </a:rPr>
              <a:t>=85 (40 f)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2400"/>
              </a:spcBef>
              <a:buFont typeface="Wingdings" panose="05000000000000000000" pitchFamily="2" charset="2"/>
              <a:buChar char="v"/>
            </a:pPr>
            <a:r>
              <a:rPr lang="en-HK" sz="2800" b="1" dirty="0">
                <a:solidFill>
                  <a:schemeClr val="tx1"/>
                </a:solidFill>
              </a:rPr>
              <a:t>Materials</a:t>
            </a:r>
            <a:r>
              <a:rPr lang="en-HK" sz="2800" dirty="0">
                <a:solidFill>
                  <a:schemeClr val="tx1"/>
                </a:solidFill>
              </a:rPr>
              <a:t>: 44 </a:t>
            </a:r>
            <a:r>
              <a:rPr lang="en-HK" sz="2800" u="sng" dirty="0">
                <a:solidFill>
                  <a:schemeClr val="tx1"/>
                </a:solidFill>
              </a:rPr>
              <a:t>linguistically gender neutral </a:t>
            </a:r>
            <a:r>
              <a:rPr lang="en-HK" sz="2800" dirty="0">
                <a:solidFill>
                  <a:schemeClr val="tx1"/>
                </a:solidFill>
              </a:rPr>
              <a:t>occupational human agent nouns and job titles, e.g.: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spcBef>
                <a:spcPts val="2400"/>
              </a:spcBef>
              <a:buFont typeface="Wingdings" panose="05000000000000000000" pitchFamily="2" charset="2"/>
              <a:buChar char="v"/>
            </a:pPr>
            <a:r>
              <a:rPr lang="en-HK" sz="2800" b="1" dirty="0">
                <a:solidFill>
                  <a:schemeClr val="tx1"/>
                </a:solidFill>
              </a:rPr>
              <a:t>Procedure</a:t>
            </a:r>
            <a:r>
              <a:rPr lang="en-HK" sz="2800" dirty="0">
                <a:solidFill>
                  <a:schemeClr val="tx1"/>
                </a:solidFill>
              </a:rPr>
              <a:t>: Online via Microsoft Forms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HK" sz="2800" dirty="0">
              <a:solidFill>
                <a:schemeClr val="tx1"/>
              </a:solidFill>
            </a:endParaRPr>
          </a:p>
          <a:p>
            <a:endParaRPr lang="en-HK" sz="2800" dirty="0">
              <a:solidFill>
                <a:schemeClr val="tx1"/>
              </a:solidFill>
            </a:endParaRPr>
          </a:p>
          <a:p>
            <a:endParaRPr lang="en-HK" sz="2800" dirty="0">
              <a:solidFill>
                <a:schemeClr val="tx1"/>
              </a:solidFill>
            </a:endParaRPr>
          </a:p>
          <a:p>
            <a:pPr marL="457200" indent="-457200" algn="just">
              <a:spcBef>
                <a:spcPts val="2400"/>
              </a:spcBef>
              <a:buFont typeface="Wingdings" panose="05000000000000000000" pitchFamily="2" charset="2"/>
              <a:buChar char="v"/>
            </a:pPr>
            <a:r>
              <a:rPr lang="en-HK" sz="2800" b="1" dirty="0">
                <a:solidFill>
                  <a:schemeClr val="tx1"/>
                </a:solidFill>
              </a:rPr>
              <a:t>Methods: </a:t>
            </a:r>
            <a:r>
              <a:rPr lang="en-HK" sz="2800" i="1" dirty="0">
                <a:solidFill>
                  <a:schemeClr val="tx1"/>
                </a:solidFill>
              </a:rPr>
              <a:t>t</a:t>
            </a:r>
            <a:r>
              <a:rPr lang="en-HK" sz="2800" dirty="0">
                <a:solidFill>
                  <a:schemeClr val="tx1"/>
                </a:solidFill>
              </a:rPr>
              <a:t>-tests (</a:t>
            </a:r>
            <a:r>
              <a:rPr lang="en-HK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scipy</a:t>
            </a:r>
            <a:r>
              <a:rPr lang="en-HK" sz="2800" dirty="0">
                <a:solidFill>
                  <a:schemeClr val="tx1"/>
                </a:solidFill>
              </a:rPr>
              <a:t>) and visualizations (</a:t>
            </a:r>
            <a:r>
              <a:rPr lang="en-HK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plotly</a:t>
            </a:r>
            <a:r>
              <a:rPr lang="en-HK" sz="2800" dirty="0">
                <a:solidFill>
                  <a:schemeClr val="tx1"/>
                </a:solidFill>
              </a:rPr>
              <a:t>) in Python; Cumulative Link Mixed Models (</a:t>
            </a:r>
            <a:r>
              <a:rPr lang="en-HK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clmm</a:t>
            </a:r>
            <a:r>
              <a:rPr lang="en-HK" sz="2800" dirty="0">
                <a:solidFill>
                  <a:schemeClr val="tx1"/>
                </a:solidFill>
              </a:rPr>
              <a:t>) in R:</a:t>
            </a:r>
          </a:p>
          <a:p>
            <a:pPr algn="just">
              <a:spcAft>
                <a:spcPts val="600"/>
              </a:spcAft>
            </a:pPr>
            <a:r>
              <a:rPr lang="en-HK" sz="2800" dirty="0">
                <a:solidFill>
                  <a:srgbClr val="8F1329"/>
                </a:solidFill>
              </a:rPr>
              <a:t>	</a:t>
            </a:r>
            <a:r>
              <a:rPr lang="en-HK" sz="2800" dirty="0">
                <a:solidFill>
                  <a:srgbClr val="8F1329"/>
                </a:solidFill>
                <a:latin typeface="+mj-lt"/>
              </a:rPr>
              <a:t>Rating ~ Language * Gender + (1 | Participant) + (1 | Item);</a:t>
            </a:r>
          </a:p>
          <a:p>
            <a:pPr algn="just">
              <a:spcAft>
                <a:spcPts val="600"/>
              </a:spcAft>
            </a:pPr>
            <a:r>
              <a:rPr lang="en-HK" sz="2800" dirty="0">
                <a:solidFill>
                  <a:srgbClr val="8F1329"/>
                </a:solidFill>
                <a:latin typeface="+mj-lt"/>
              </a:rPr>
              <a:t>	</a:t>
            </a:r>
            <a:r>
              <a:rPr lang="en-HK" sz="2800" dirty="0">
                <a:solidFill>
                  <a:schemeClr val="tx1"/>
                </a:solidFill>
              </a:rPr>
              <a:t>Spearman’s </a:t>
            </a:r>
            <a:r>
              <a:rPr lang="el-GR" sz="2800" i="1" dirty="0">
                <a:solidFill>
                  <a:schemeClr val="tx1"/>
                </a:solidFill>
              </a:rPr>
              <a:t>ρ</a:t>
            </a:r>
            <a:r>
              <a:rPr lang="en-HK" sz="2800" dirty="0">
                <a:solidFill>
                  <a:schemeClr val="tx1"/>
                </a:solidFill>
              </a:rPr>
              <a:t> to compare human with LLM ratings.</a:t>
            </a:r>
            <a:br>
              <a:rPr lang="en-HK" sz="2800" dirty="0">
                <a:solidFill>
                  <a:schemeClr val="tx1"/>
                </a:solidFill>
              </a:rPr>
            </a:br>
            <a:r>
              <a:rPr lang="en-HK" sz="1200" dirty="0">
                <a:solidFill>
                  <a:schemeClr val="tx1"/>
                </a:solidFill>
              </a:rPr>
              <a:t>	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Spearman’s </a:t>
            </a:r>
            <a:r>
              <a:rPr lang="hu-HU" sz="1200" dirty="0" err="1">
                <a:solidFill>
                  <a:schemeClr val="bg2">
                    <a:lumMod val="90000"/>
                  </a:schemeClr>
                </a:solidFill>
              </a:rPr>
              <a:t>rank</a:t>
            </a:r>
            <a:r>
              <a:rPr lang="hu-HU" sz="1200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hu-HU" sz="1200" dirty="0" err="1">
                <a:solidFill>
                  <a:schemeClr val="bg2">
                    <a:lumMod val="90000"/>
                  </a:schemeClr>
                </a:solidFill>
              </a:rPr>
              <a:t>correlation</a:t>
            </a:r>
            <a:r>
              <a:rPr lang="en-US" sz="1200" dirty="0">
                <a:solidFill>
                  <a:schemeClr val="bg2">
                    <a:lumMod val="90000"/>
                  </a:schemeClr>
                </a:solidFill>
              </a:rPr>
              <a:t> coefficient</a:t>
            </a:r>
          </a:p>
          <a:p>
            <a:pPr algn="just">
              <a:spcAft>
                <a:spcPts val="600"/>
              </a:spcAft>
            </a:pPr>
            <a:endParaRPr lang="en-HK" sz="28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0980E97-B76E-12DE-EF94-46050E9C61DA}"/>
              </a:ext>
            </a:extLst>
          </p:cNvPr>
          <p:cNvSpPr/>
          <p:nvPr/>
        </p:nvSpPr>
        <p:spPr>
          <a:xfrm>
            <a:off x="20880000" y="31511690"/>
            <a:ext cx="9000000" cy="826294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76200">
            <a:solidFill>
              <a:srgbClr val="8F132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2786" tIns="0" rIns="265572" bIns="132786" rtlCol="0" anchor="t"/>
          <a:lstStyle/>
          <a:p>
            <a:pPr algn="ctr">
              <a:spcAft>
                <a:spcPts val="600"/>
              </a:spcAft>
            </a:pPr>
            <a:r>
              <a:rPr lang="en-HK" sz="5400" b="1" noProof="0" dirty="0">
                <a:solidFill>
                  <a:srgbClr val="8F13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Conclusion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Ungendered ≠ Unbiased</a:t>
            </a:r>
            <a:r>
              <a:rPr lang="en-US" sz="2800" dirty="0">
                <a:solidFill>
                  <a:schemeClr val="tx1"/>
                </a:solidFill>
              </a:rPr>
              <a:t>: Even in Hungarian and Chinese, which </a:t>
            </a:r>
            <a:r>
              <a:rPr lang="en-US" sz="2800" b="1" i="1" dirty="0">
                <a:solidFill>
                  <a:schemeClr val="tx1"/>
                </a:solidFill>
              </a:rPr>
              <a:t>lack</a:t>
            </a:r>
            <a:r>
              <a:rPr lang="en-US" sz="2800" dirty="0">
                <a:solidFill>
                  <a:schemeClr val="tx1"/>
                </a:solidFill>
              </a:rPr>
              <a:t> grammatical gender, occupational nouns carry strong societal gender stereotypes.</a:t>
            </a:r>
            <a:endParaRPr lang="en-US" sz="2800" i="1" dirty="0">
              <a:solidFill>
                <a:schemeClr val="bg2">
                  <a:lumMod val="90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Cross-Linguistic Similarities</a:t>
            </a:r>
            <a:r>
              <a:rPr lang="en-US" sz="2800" dirty="0">
                <a:solidFill>
                  <a:schemeClr val="tx1"/>
                </a:solidFill>
              </a:rPr>
              <a:t>: Both languages linked </a:t>
            </a:r>
            <a:r>
              <a:rPr lang="en-US" sz="2800" b="1" dirty="0">
                <a:solidFill>
                  <a:srgbClr val="DCB0F2"/>
                </a:solidFill>
              </a:rPr>
              <a:t>women</a:t>
            </a:r>
            <a:r>
              <a:rPr lang="en-US" sz="2800" dirty="0">
                <a:solidFill>
                  <a:schemeClr val="tx1"/>
                </a:solidFill>
              </a:rPr>
              <a:t> to service, care, and emotional labor roles, and </a:t>
            </a:r>
            <a:r>
              <a:rPr lang="en-US" sz="2800" b="1" dirty="0">
                <a:solidFill>
                  <a:srgbClr val="9EB9F3"/>
                </a:solidFill>
              </a:rPr>
              <a:t>men</a:t>
            </a:r>
            <a:r>
              <a:rPr lang="en-US" sz="2800" dirty="0">
                <a:solidFill>
                  <a:schemeClr val="tx1"/>
                </a:solidFill>
              </a:rPr>
              <a:t> to physical, high-risk, or authority roles.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Gender Differences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800" b="1" dirty="0">
                <a:solidFill>
                  <a:srgbClr val="87C55F"/>
                </a:solidFill>
              </a:rPr>
              <a:t>Hungarian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rgbClr val="9EB9F3"/>
                </a:solidFill>
              </a:rPr>
              <a:t>men</a:t>
            </a:r>
            <a:r>
              <a:rPr lang="en-US" sz="2800" dirty="0">
                <a:solidFill>
                  <a:schemeClr val="tx1"/>
                </a:solidFill>
              </a:rPr>
              <a:t> showed stronger absolute biases, while in </a:t>
            </a:r>
            <a:r>
              <a:rPr lang="en-US" sz="2800" b="1" dirty="0">
                <a:solidFill>
                  <a:srgbClr val="C55F5F"/>
                </a:solidFill>
              </a:rPr>
              <a:t>Chinese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rgbClr val="DCB0F2"/>
                </a:solidFill>
              </a:rPr>
              <a:t>women</a:t>
            </a:r>
            <a:r>
              <a:rPr lang="en-US" sz="2800" dirty="0">
                <a:solidFill>
                  <a:schemeClr val="tx1"/>
                </a:solidFill>
              </a:rPr>
              <a:t> did – highlighting gendered cultural variation in bias expression.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LLMs Mirror Biases</a:t>
            </a:r>
            <a:r>
              <a:rPr lang="en-US" sz="2800" dirty="0">
                <a:solidFill>
                  <a:schemeClr val="tx1"/>
                </a:solidFill>
              </a:rPr>
              <a:t>: Large Language Models produced ratings that </a:t>
            </a:r>
            <a:r>
              <a:rPr lang="en-US" sz="2800" b="1" i="1" dirty="0">
                <a:solidFill>
                  <a:schemeClr val="tx1"/>
                </a:solidFill>
              </a:rPr>
              <a:t>correlated</a:t>
            </a:r>
            <a:r>
              <a:rPr lang="en-US" sz="2800" dirty="0">
                <a:solidFill>
                  <a:schemeClr val="tx1"/>
                </a:solidFill>
              </a:rPr>
              <a:t> with human judgments but </a:t>
            </a:r>
            <a:r>
              <a:rPr lang="en-US" sz="2800" b="1" i="1" dirty="0">
                <a:solidFill>
                  <a:schemeClr val="tx1"/>
                </a:solidFill>
              </a:rPr>
              <a:t>amplified</a:t>
            </a:r>
            <a:r>
              <a:rPr lang="en-US" sz="2800" dirty="0">
                <a:solidFill>
                  <a:schemeClr val="tx1"/>
                </a:solidFill>
              </a:rPr>
              <a:t> stereotypes even more strongly.</a:t>
            </a:r>
          </a:p>
          <a:p>
            <a:pPr>
              <a:spcAft>
                <a:spcPts val="600"/>
              </a:spcAft>
            </a:pPr>
            <a:r>
              <a:rPr lang="en-US" sz="2800" b="1" dirty="0">
                <a:solidFill>
                  <a:schemeClr val="tx1"/>
                </a:solidFill>
              </a:rPr>
              <a:t>Implications</a:t>
            </a:r>
            <a:r>
              <a:rPr lang="en-US" sz="2800" dirty="0">
                <a:solidFill>
                  <a:schemeClr val="tx1"/>
                </a:solidFill>
              </a:rPr>
              <a:t>: Occupational bias </a:t>
            </a:r>
            <a:r>
              <a:rPr lang="en-US" sz="2800" b="1" i="1" dirty="0">
                <a:solidFill>
                  <a:schemeClr val="tx1"/>
                </a:solidFill>
              </a:rPr>
              <a:t>persists</a:t>
            </a:r>
            <a:r>
              <a:rPr lang="en-US" sz="2800" dirty="0">
                <a:solidFill>
                  <a:schemeClr val="tx1"/>
                </a:solidFill>
              </a:rPr>
              <a:t> beyond grammar; AI systems </a:t>
            </a:r>
            <a:r>
              <a:rPr lang="en-US" sz="2800" b="1" i="1" dirty="0">
                <a:solidFill>
                  <a:schemeClr val="tx1"/>
                </a:solidFill>
              </a:rPr>
              <a:t>risk</a:t>
            </a:r>
            <a:r>
              <a:rPr lang="en-US" sz="2800" dirty="0">
                <a:solidFill>
                  <a:schemeClr val="tx1"/>
                </a:solidFill>
              </a:rPr>
              <a:t> reinforcing stereotypes, underscoring the </a:t>
            </a:r>
            <a:r>
              <a:rPr lang="en-US" sz="2800" b="1" i="1" dirty="0">
                <a:solidFill>
                  <a:schemeClr val="tx1"/>
                </a:solidFill>
              </a:rPr>
              <a:t>need</a:t>
            </a:r>
            <a:r>
              <a:rPr lang="en-US" sz="2800" dirty="0">
                <a:solidFill>
                  <a:schemeClr val="tx1"/>
                </a:solidFill>
              </a:rPr>
              <a:t> for fairness-aware design.</a:t>
            </a:r>
          </a:p>
        </p:txBody>
      </p:sp>
      <p:sp>
        <p:nvSpPr>
          <p:cNvPr id="16" name="云形标注 15">
            <a:extLst>
              <a:ext uri="{FF2B5EF4-FFF2-40B4-BE49-F238E27FC236}">
                <a16:creationId xmlns:a16="http://schemas.microsoft.com/office/drawing/2014/main" id="{FCD08E07-24A5-6C55-D54F-F3F1A2741440}"/>
              </a:ext>
            </a:extLst>
          </p:cNvPr>
          <p:cNvSpPr/>
          <p:nvPr/>
        </p:nvSpPr>
        <p:spPr>
          <a:xfrm>
            <a:off x="5182942" y="7103792"/>
            <a:ext cx="3944564" cy="1939701"/>
          </a:xfrm>
          <a:prstGeom prst="cloudCallout">
            <a:avLst>
              <a:gd name="adj1" fmla="val -71695"/>
              <a:gd name="adj2" fmla="val 34584"/>
            </a:avLst>
          </a:prstGeom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HK" noProof="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8F391B-18A9-5B41-5E55-47D332D33AFF}"/>
              </a:ext>
            </a:extLst>
          </p:cNvPr>
          <p:cNvSpPr txBox="1"/>
          <p:nvPr/>
        </p:nvSpPr>
        <p:spPr>
          <a:xfrm>
            <a:off x="-4986444" y="-4563880"/>
            <a:ext cx="55955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HK" sz="2500" noProof="0" dirty="0">
                <a:latin typeface="Avenir Book" panose="02000503020000020003" pitchFamily="2" charset="0"/>
              </a:rPr>
              <a:t>Men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5F5BBC9-D911-206A-EE60-B219F3F95841}"/>
              </a:ext>
            </a:extLst>
          </p:cNvPr>
          <p:cNvSpPr txBox="1"/>
          <p:nvPr/>
        </p:nvSpPr>
        <p:spPr>
          <a:xfrm>
            <a:off x="652116" y="19308764"/>
            <a:ext cx="8475390" cy="4339650"/>
          </a:xfrm>
          <a:prstGeom prst="rect">
            <a:avLst/>
          </a:prstGeom>
          <a:gradFill flip="none" rotWithShape="1">
            <a:gsLst>
              <a:gs pos="0">
                <a:srgbClr val="138F79"/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HK" sz="3200" b="1" noProof="0" dirty="0">
                <a:latin typeface="Avenir Book" panose="02000503020000020003" pitchFamily="2" charset="0"/>
              </a:rPr>
              <a:t>Research Questions: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HK" sz="2800" noProof="0" dirty="0"/>
              <a:t>To what extent do speakers of Hungarian and Chinese exhibit </a:t>
            </a:r>
            <a:r>
              <a:rPr lang="en-HK" sz="2800" b="1" noProof="0" dirty="0"/>
              <a:t>gender bias </a:t>
            </a:r>
            <a:r>
              <a:rPr lang="en-HK" sz="2800" noProof="0" dirty="0"/>
              <a:t>when rating job titles?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HK" sz="2800" noProof="0" dirty="0"/>
              <a:t>Are there differences between </a:t>
            </a:r>
            <a:r>
              <a:rPr lang="en-HK" sz="2800" b="1" noProof="0" dirty="0"/>
              <a:t>male</a:t>
            </a:r>
            <a:r>
              <a:rPr lang="en-HK" sz="2800" noProof="0" dirty="0"/>
              <a:t> and </a:t>
            </a:r>
            <a:r>
              <a:rPr lang="en-HK" sz="2800" b="1" noProof="0" dirty="0"/>
              <a:t>female</a:t>
            </a:r>
            <a:r>
              <a:rPr lang="en-HK" sz="2800" noProof="0" dirty="0"/>
              <a:t> raters?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HK" sz="2800" noProof="0" dirty="0"/>
              <a:t>What are the key </a:t>
            </a:r>
            <a:r>
              <a:rPr lang="en-HK" sz="2800" b="1" noProof="0" dirty="0"/>
              <a:t>differences</a:t>
            </a:r>
            <a:r>
              <a:rPr lang="en-HK" sz="2800" noProof="0" dirty="0"/>
              <a:t> and </a:t>
            </a:r>
            <a:r>
              <a:rPr lang="en-HK" sz="2800" b="1" noProof="0" dirty="0"/>
              <a:t>similarities</a:t>
            </a:r>
            <a:r>
              <a:rPr lang="en-HK" sz="2800" noProof="0" dirty="0"/>
              <a:t> in occupational gender </a:t>
            </a:r>
            <a:r>
              <a:rPr lang="en-HK" sz="2800" dirty="0"/>
              <a:t>stereotypes between Hungarian and Chinese speakers? </a:t>
            </a:r>
          </a:p>
          <a:p>
            <a:pPr marL="457200" indent="-457200"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en-HK" sz="2800" dirty="0"/>
              <a:t>How </a:t>
            </a:r>
            <a:r>
              <a:rPr lang="en-HK" sz="2800" b="1" dirty="0"/>
              <a:t>similar</a:t>
            </a:r>
            <a:r>
              <a:rPr lang="en-HK" sz="2800" dirty="0"/>
              <a:t> are human and LLM judgments? </a:t>
            </a:r>
          </a:p>
        </p:txBody>
      </p:sp>
      <p:pic>
        <p:nvPicPr>
          <p:cNvPr id="1035" name="Picture 59">
            <a:extLst>
              <a:ext uri="{FF2B5EF4-FFF2-40B4-BE49-F238E27FC236}">
                <a16:creationId xmlns:a16="http://schemas.microsoft.com/office/drawing/2014/main" id="{D2893597-D7E3-74D7-80E5-45748DFE9D6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" r="4577"/>
          <a:stretch>
            <a:fillRect/>
          </a:stretch>
        </p:blipFill>
        <p:spPr>
          <a:xfrm>
            <a:off x="408579" y="28644862"/>
            <a:ext cx="4377642" cy="1872000"/>
          </a:xfrm>
          <a:prstGeom prst="rect">
            <a:avLst/>
          </a:prstGeom>
        </p:spPr>
      </p:pic>
      <p:pic>
        <p:nvPicPr>
          <p:cNvPr id="1037" name="Picture 61">
            <a:extLst>
              <a:ext uri="{FF2B5EF4-FFF2-40B4-BE49-F238E27FC236}">
                <a16:creationId xmlns:a16="http://schemas.microsoft.com/office/drawing/2014/main" id="{3EBB2285-FC3E-5A91-7480-AD6632B4B52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" r="4718"/>
          <a:stretch>
            <a:fillRect/>
          </a:stretch>
        </p:blipFill>
        <p:spPr>
          <a:xfrm>
            <a:off x="4941351" y="28644862"/>
            <a:ext cx="4377642" cy="1872000"/>
          </a:xfrm>
          <a:prstGeom prst="rect">
            <a:avLst/>
          </a:prstGeom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61770075-C928-855F-F683-D872702EC769}"/>
              </a:ext>
            </a:extLst>
          </p:cNvPr>
          <p:cNvSpPr txBox="1"/>
          <p:nvPr/>
        </p:nvSpPr>
        <p:spPr>
          <a:xfrm>
            <a:off x="2364378" y="25127731"/>
            <a:ext cx="5025991" cy="646331"/>
          </a:xfrm>
          <a:prstGeom prst="rect">
            <a:avLst/>
          </a:prstGeom>
          <a:gradFill flip="none" rotWithShape="1">
            <a:gsLst>
              <a:gs pos="0">
                <a:srgbClr val="138F79"/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2700000" scaled="1"/>
            <a:tileRect/>
          </a:gra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HK" sz="3600" b="1" noProof="0" dirty="0"/>
              <a:t>Study 1: </a:t>
            </a:r>
            <a:r>
              <a:rPr lang="en-HK" sz="3600" noProof="0" dirty="0"/>
              <a:t>Human Ratings</a:t>
            </a:r>
          </a:p>
        </p:txBody>
      </p:sp>
      <p:sp>
        <p:nvSpPr>
          <p:cNvPr id="1046" name="文本框 1045">
            <a:extLst>
              <a:ext uri="{FF2B5EF4-FFF2-40B4-BE49-F238E27FC236}">
                <a16:creationId xmlns:a16="http://schemas.microsoft.com/office/drawing/2014/main" id="{5297A094-7016-B351-4364-2C5129A5D291}"/>
              </a:ext>
            </a:extLst>
          </p:cNvPr>
          <p:cNvSpPr txBox="1"/>
          <p:nvPr/>
        </p:nvSpPr>
        <p:spPr>
          <a:xfrm>
            <a:off x="12214223" y="31750532"/>
            <a:ext cx="6314036" cy="646331"/>
          </a:xfrm>
          <a:prstGeom prst="rect">
            <a:avLst/>
          </a:prstGeom>
          <a:gradFill flip="none" rotWithShape="1">
            <a:gsLst>
              <a:gs pos="0">
                <a:srgbClr val="138F79"/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2700000" scaled="1"/>
            <a:tileRect/>
          </a:gra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HK" sz="3600" b="1" noProof="0" dirty="0">
                <a:latin typeface="Nunito" pitchFamily="2" charset="0"/>
              </a:rPr>
              <a:t>Study 2: </a:t>
            </a:r>
            <a:r>
              <a:rPr lang="en-HK" sz="3600" noProof="0" dirty="0"/>
              <a:t>AI-Generated Ratings</a:t>
            </a:r>
          </a:p>
        </p:txBody>
      </p:sp>
      <p:graphicFrame>
        <p:nvGraphicFramePr>
          <p:cNvPr id="1047" name="表格 1046">
            <a:extLst>
              <a:ext uri="{FF2B5EF4-FFF2-40B4-BE49-F238E27FC236}">
                <a16:creationId xmlns:a16="http://schemas.microsoft.com/office/drawing/2014/main" id="{622470C8-755F-752F-A22F-7F63EBA8E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48018"/>
              </p:ext>
            </p:extLst>
          </p:nvPr>
        </p:nvGraphicFramePr>
        <p:xfrm>
          <a:off x="952901" y="32401136"/>
          <a:ext cx="6232173" cy="2160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77391">
                  <a:extLst>
                    <a:ext uri="{9D8B030D-6E8A-4147-A177-3AD203B41FA5}">
                      <a16:colId xmlns:a16="http://schemas.microsoft.com/office/drawing/2014/main" val="3966300159"/>
                    </a:ext>
                  </a:extLst>
                </a:gridCol>
                <a:gridCol w="2077391">
                  <a:extLst>
                    <a:ext uri="{9D8B030D-6E8A-4147-A177-3AD203B41FA5}">
                      <a16:colId xmlns:a16="http://schemas.microsoft.com/office/drawing/2014/main" val="458041808"/>
                    </a:ext>
                  </a:extLst>
                </a:gridCol>
                <a:gridCol w="2077391">
                  <a:extLst>
                    <a:ext uri="{9D8B030D-6E8A-4147-A177-3AD203B41FA5}">
                      <a16:colId xmlns:a16="http://schemas.microsoft.com/office/drawing/2014/main" val="2998147868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b="1" noProof="0" dirty="0"/>
                        <a:t>Hungarian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b="1" noProof="0" dirty="0"/>
                        <a:t>Chinese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b="1" noProof="0" dirty="0"/>
                        <a:t>English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69021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i="1" noProof="0" dirty="0" err="1"/>
                        <a:t>fodrász</a:t>
                      </a:r>
                      <a:endParaRPr lang="en-HK" sz="2400" i="1" noProof="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i="0" noProof="0" dirty="0" err="1"/>
                        <a:t>理发师</a:t>
                      </a:r>
                      <a:endParaRPr lang="en-HK" sz="2400" i="0" noProof="0" dirty="0">
                        <a:latin typeface="SimSong" panose="02020300000000000000" pitchFamily="18" charset="-122"/>
                        <a:ea typeface="SimSong" panose="02020300000000000000" pitchFamily="18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noProof="0" dirty="0"/>
                        <a:t>hairdresser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0422919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i="1" noProof="0" dirty="0" err="1"/>
                        <a:t>programozó</a:t>
                      </a:r>
                      <a:endParaRPr lang="en-HK" sz="2400" i="1" noProof="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i="0" noProof="0" dirty="0" err="1"/>
                        <a:t>程序员</a:t>
                      </a:r>
                      <a:endParaRPr lang="en-HK" sz="2400" i="0" noProof="0" dirty="0">
                        <a:latin typeface="SimSong" panose="02020300000000000000" pitchFamily="18" charset="-122"/>
                        <a:ea typeface="SimSong" panose="02020300000000000000" pitchFamily="18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noProof="0" dirty="0"/>
                        <a:t>programmer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23459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i="1" noProof="0" dirty="0" err="1"/>
                        <a:t>orvos</a:t>
                      </a:r>
                      <a:endParaRPr lang="en-HK" sz="2400" i="1" noProof="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i="0" noProof="0" dirty="0" err="1"/>
                        <a:t>医生</a:t>
                      </a:r>
                      <a:endParaRPr lang="en-HK" sz="2400" i="0" noProof="0" dirty="0">
                        <a:latin typeface="SimSong" panose="02020300000000000000" pitchFamily="18" charset="-122"/>
                        <a:ea typeface="SimSong" panose="02020300000000000000" pitchFamily="18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noProof="0" dirty="0"/>
                        <a:t>doctor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38571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noProof="0" dirty="0"/>
                        <a:t>...</a:t>
                      </a:r>
                      <a:endParaRPr lang="en-HK" sz="2400" noProof="0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noProof="0" dirty="0"/>
                        <a:t>…</a:t>
                      </a:r>
                      <a:endParaRPr lang="en-HK" sz="2400" noProof="0" dirty="0">
                        <a:latin typeface="SimSong" panose="02020300000000000000" pitchFamily="18" charset="-122"/>
                        <a:ea typeface="SimSong" panose="02020300000000000000" pitchFamily="18" charset="-122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HK" sz="2400" noProof="0" dirty="0"/>
                        <a:t>…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6041717"/>
                  </a:ext>
                </a:extLst>
              </a:tr>
            </a:tbl>
          </a:graphicData>
        </a:graphic>
      </p:graphicFrame>
      <p:pic>
        <p:nvPicPr>
          <p:cNvPr id="1048" name="Picture 55">
            <a:extLst>
              <a:ext uri="{FF2B5EF4-FFF2-40B4-BE49-F238E27FC236}">
                <a16:creationId xmlns:a16="http://schemas.microsoft.com/office/drawing/2014/main" id="{8D55DEA8-6030-09C5-38AD-A0DF5A6F19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06" y="35839143"/>
            <a:ext cx="8851136" cy="2168885"/>
          </a:xfrm>
          <a:prstGeom prst="rect">
            <a:avLst/>
          </a:prstGeom>
        </p:spPr>
      </p:pic>
      <p:pic>
        <p:nvPicPr>
          <p:cNvPr id="1049" name="Picture 57">
            <a:extLst>
              <a:ext uri="{FF2B5EF4-FFF2-40B4-BE49-F238E27FC236}">
                <a16:creationId xmlns:a16="http://schemas.microsoft.com/office/drawing/2014/main" id="{EBAC9C3A-E6F0-F4CB-1838-125F09B7DC7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54"/>
          <a:stretch>
            <a:fillRect/>
          </a:stretch>
        </p:blipFill>
        <p:spPr>
          <a:xfrm>
            <a:off x="451806" y="38318951"/>
            <a:ext cx="8851137" cy="1470648"/>
          </a:xfrm>
          <a:prstGeom prst="rect">
            <a:avLst/>
          </a:prstGeom>
        </p:spPr>
      </p:pic>
      <p:sp>
        <p:nvSpPr>
          <p:cNvPr id="1052" name="文本框 1051">
            <a:extLst>
              <a:ext uri="{FF2B5EF4-FFF2-40B4-BE49-F238E27FC236}">
                <a16:creationId xmlns:a16="http://schemas.microsoft.com/office/drawing/2014/main" id="{461796FB-6F24-D716-4CD6-4638C7E85B2A}"/>
              </a:ext>
            </a:extLst>
          </p:cNvPr>
          <p:cNvSpPr txBox="1"/>
          <p:nvPr/>
        </p:nvSpPr>
        <p:spPr>
          <a:xfrm>
            <a:off x="7450197" y="38318951"/>
            <a:ext cx="1852745" cy="369332"/>
          </a:xfrm>
          <a:prstGeom prst="rect">
            <a:avLst/>
          </a:prstGeom>
          <a:gradFill>
            <a:gsLst>
              <a:gs pos="0">
                <a:srgbClr val="138F79"/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HK" noProof="0" dirty="0"/>
              <a:t>Chinese version</a:t>
            </a:r>
            <a:endParaRPr kumimoji="1" lang="en-HK" b="1" noProof="0" dirty="0"/>
          </a:p>
        </p:txBody>
      </p:sp>
      <p:pic>
        <p:nvPicPr>
          <p:cNvPr id="1055" name="Picture 19" descr="Image">
            <a:extLst>
              <a:ext uri="{FF2B5EF4-FFF2-40B4-BE49-F238E27FC236}">
                <a16:creationId xmlns:a16="http://schemas.microsoft.com/office/drawing/2014/main" id="{4C77F7D0-0E98-FCDE-B9B9-57587711F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1355" y="3366412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21" descr="Image">
            <a:extLst>
              <a:ext uri="{FF2B5EF4-FFF2-40B4-BE49-F238E27FC236}">
                <a16:creationId xmlns:a16="http://schemas.microsoft.com/office/drawing/2014/main" id="{AC07F0CD-B132-5C48-7525-F88B55D92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789"/>
          <a:stretch>
            <a:fillRect/>
          </a:stretch>
        </p:blipFill>
        <p:spPr bwMode="auto">
          <a:xfrm>
            <a:off x="14346371" y="33664124"/>
            <a:ext cx="102487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22" descr="Image">
            <a:extLst>
              <a:ext uri="{FF2B5EF4-FFF2-40B4-BE49-F238E27FC236}">
                <a16:creationId xmlns:a16="http://schemas.microsoft.com/office/drawing/2014/main" id="{C74E3A03-14DD-4DDC-B0F0-B7E41EAED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1395" y="33652925"/>
            <a:ext cx="720995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EA94E74-1FE2-A968-9EBC-DBA6A3DB769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3147" y="33664124"/>
            <a:ext cx="1016950" cy="7200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E8F2CFB-2B18-B7FC-DEBC-76DBCE7E5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26948" y="7383163"/>
            <a:ext cx="1332000" cy="13320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E98665C-6D4D-4AD8-DF24-641DB477B7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53074" y="7383163"/>
            <a:ext cx="1332000" cy="1332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A9CF356-E7B5-CF0F-9ED6-7DD3ACABEC8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116" y="9891923"/>
            <a:ext cx="1680000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E13CB87-D6DC-C35D-37C4-4E3855851915}"/>
              </a:ext>
            </a:extLst>
          </p:cNvPr>
          <p:cNvSpPr txBox="1"/>
          <p:nvPr/>
        </p:nvSpPr>
        <p:spPr>
          <a:xfrm>
            <a:off x="5101168" y="9946428"/>
            <a:ext cx="2476500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HK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r>
              <a:rPr lang="en-HK" sz="5400" noProof="0" dirty="0">
                <a:solidFill>
                  <a:srgbClr val="DCB0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ress</a:t>
            </a:r>
            <a:endParaRPr lang="en-HK" sz="4800" noProof="0" dirty="0">
              <a:solidFill>
                <a:srgbClr val="DCB0F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2800" dirty="0"/>
              <a:t>act</a:t>
            </a:r>
            <a:r>
              <a:rPr lang="fr-FR" sz="2800" dirty="0">
                <a:solidFill>
                  <a:srgbClr val="DCB0F2"/>
                </a:solidFill>
              </a:rPr>
              <a:t>rice </a:t>
            </a:r>
            <a:endParaRPr lang="en-HK" sz="2800" dirty="0">
              <a:solidFill>
                <a:srgbClr val="DCB0F2"/>
              </a:solidFill>
            </a:endParaRPr>
          </a:p>
          <a:p>
            <a:r>
              <a:rPr lang="en-HK" sz="2800" dirty="0"/>
              <a:t>att</a:t>
            </a:r>
            <a:r>
              <a:rPr lang="en-HK" sz="2800" dirty="0">
                <a:solidFill>
                  <a:srgbClr val="DCB0F2"/>
                </a:solidFill>
              </a:rPr>
              <a:t>rice</a:t>
            </a:r>
          </a:p>
          <a:p>
            <a:r>
              <a:rPr lang="de-DE" sz="2400" dirty="0"/>
              <a:t>Schauspiel</a:t>
            </a:r>
            <a:r>
              <a:rPr lang="de-DE" sz="2400" dirty="0">
                <a:solidFill>
                  <a:srgbClr val="DCB0F2"/>
                </a:solidFill>
              </a:rPr>
              <a:t>erin</a:t>
            </a:r>
            <a:endParaRPr lang="en-HK" sz="2800" dirty="0">
              <a:solidFill>
                <a:srgbClr val="DCB0F2"/>
              </a:solidFill>
            </a:endParaRPr>
          </a:p>
          <a:p>
            <a:r>
              <a:rPr lang="hi-IN" sz="2000" dirty="0"/>
              <a:t>अभिने</a:t>
            </a:r>
            <a:r>
              <a:rPr lang="hi-IN" sz="2000" dirty="0">
                <a:solidFill>
                  <a:srgbClr val="DCB0F2"/>
                </a:solidFill>
              </a:rPr>
              <a:t>त्री</a:t>
            </a:r>
            <a:r>
              <a:rPr lang="en-US" sz="2400" dirty="0">
                <a:solidFill>
                  <a:srgbClr val="DCB0F2"/>
                </a:solidFill>
              </a:rPr>
              <a:t> </a:t>
            </a:r>
            <a:r>
              <a:rPr lang="en-US" sz="2400" i="1" dirty="0"/>
              <a:t>abhine</a:t>
            </a:r>
            <a:r>
              <a:rPr lang="en-US" sz="2400" i="1" dirty="0">
                <a:solidFill>
                  <a:srgbClr val="DCB0F2"/>
                </a:solidFill>
              </a:rPr>
              <a:t>tr</a:t>
            </a:r>
            <a:r>
              <a:rPr lang="hu-HU" sz="2400" i="1" dirty="0">
                <a:solidFill>
                  <a:srgbClr val="DCB0F2"/>
                </a:solidFill>
              </a:rPr>
              <a:t>ī</a:t>
            </a:r>
            <a:endParaRPr lang="en-HK" sz="2400" i="1" dirty="0">
              <a:solidFill>
                <a:srgbClr val="DCB0F2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8F057C2-7AA9-C35F-1573-1520F01261E7}"/>
              </a:ext>
            </a:extLst>
          </p:cNvPr>
          <p:cNvSpPr txBox="1"/>
          <p:nvPr/>
        </p:nvSpPr>
        <p:spPr>
          <a:xfrm>
            <a:off x="2332116" y="9946428"/>
            <a:ext cx="2489466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HK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</a:t>
            </a:r>
            <a:r>
              <a:rPr lang="en-HK" sz="5400" noProof="0" dirty="0">
                <a:solidFill>
                  <a:srgbClr val="9EB9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endParaRPr lang="en-HK" sz="4800" noProof="0" dirty="0">
              <a:solidFill>
                <a:srgbClr val="9EB9F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fr-FR" sz="2800" dirty="0"/>
              <a:t>act</a:t>
            </a:r>
            <a:r>
              <a:rPr lang="fr-FR" sz="2800" dirty="0">
                <a:solidFill>
                  <a:srgbClr val="9EB9F3"/>
                </a:solidFill>
              </a:rPr>
              <a:t>eur</a:t>
            </a:r>
          </a:p>
          <a:p>
            <a:r>
              <a:rPr lang="en-HK" sz="2800" dirty="0"/>
              <a:t>att</a:t>
            </a:r>
            <a:r>
              <a:rPr lang="en-HK" sz="2800" dirty="0">
                <a:solidFill>
                  <a:srgbClr val="9EB9F3"/>
                </a:solidFill>
              </a:rPr>
              <a:t>ore	</a:t>
            </a:r>
          </a:p>
          <a:p>
            <a:r>
              <a:rPr lang="de-DE" sz="2400" dirty="0"/>
              <a:t>Schauspiel</a:t>
            </a:r>
            <a:r>
              <a:rPr lang="de-DE" sz="2400" dirty="0">
                <a:solidFill>
                  <a:srgbClr val="9EB9F3"/>
                </a:solidFill>
              </a:rPr>
              <a:t>er</a:t>
            </a:r>
            <a:endParaRPr lang="en-HK" sz="2800" dirty="0">
              <a:solidFill>
                <a:srgbClr val="9EB9F3"/>
              </a:solidFill>
            </a:endParaRPr>
          </a:p>
          <a:p>
            <a:r>
              <a:rPr lang="hi-IN" sz="2000" dirty="0"/>
              <a:t>अभिने</a:t>
            </a:r>
            <a:r>
              <a:rPr lang="hi-IN" sz="2000" dirty="0">
                <a:solidFill>
                  <a:srgbClr val="9EB9F3"/>
                </a:solidFill>
              </a:rPr>
              <a:t>ता</a:t>
            </a:r>
            <a:r>
              <a:rPr lang="en-US" sz="2400" dirty="0">
                <a:solidFill>
                  <a:srgbClr val="9EB9F3"/>
                </a:solidFill>
              </a:rPr>
              <a:t> </a:t>
            </a:r>
            <a:r>
              <a:rPr lang="en-US" sz="2400" i="1" dirty="0"/>
              <a:t>abhine</a:t>
            </a:r>
            <a:r>
              <a:rPr lang="en-US" sz="2400" i="1" dirty="0">
                <a:solidFill>
                  <a:srgbClr val="9EB9F3"/>
                </a:solidFill>
              </a:rPr>
              <a:t>tā</a:t>
            </a:r>
            <a:endParaRPr lang="en-HK" sz="2400" i="1" dirty="0">
              <a:solidFill>
                <a:srgbClr val="9EB9F3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9E5A552A-525B-E996-41BC-E994E9D8D26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45132" y="9592056"/>
            <a:ext cx="1754584" cy="2819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713D25E-D951-D2CA-97E7-15F06E3910BF}"/>
              </a:ext>
            </a:extLst>
          </p:cNvPr>
          <p:cNvSpPr txBox="1"/>
          <p:nvPr/>
        </p:nvSpPr>
        <p:spPr>
          <a:xfrm>
            <a:off x="3300510" y="10962091"/>
            <a:ext cx="1730918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900"/>
              </a:spcAft>
            </a:pPr>
            <a:r>
              <a:rPr lang="fr-FR">
                <a:solidFill>
                  <a:schemeClr val="bg2">
                    <a:lumMod val="90000"/>
                  </a:schemeClr>
                </a:solidFill>
              </a:rPr>
              <a:t>FR; NL </a:t>
            </a:r>
          </a:p>
          <a:p>
            <a:pPr algn="r">
              <a:spcAft>
                <a:spcPts val="900"/>
              </a:spcAft>
            </a:pPr>
            <a:r>
              <a:rPr lang="fr-FR">
                <a:solidFill>
                  <a:schemeClr val="bg2">
                    <a:lumMod val="90000"/>
                  </a:schemeClr>
                </a:solidFill>
              </a:rPr>
              <a:t>I</a:t>
            </a:r>
            <a:r>
              <a:rPr lang="en-HK">
                <a:solidFill>
                  <a:schemeClr val="bg2">
                    <a:lumMod val="90000"/>
                  </a:schemeClr>
                </a:solidFill>
              </a:rPr>
              <a:t>T</a:t>
            </a:r>
          </a:p>
          <a:p>
            <a:pPr algn="r">
              <a:spcAft>
                <a:spcPts val="900"/>
              </a:spcAft>
            </a:pPr>
            <a:r>
              <a:rPr lang="de-DE">
                <a:solidFill>
                  <a:schemeClr val="bg2">
                    <a:lumMod val="90000"/>
                  </a:schemeClr>
                </a:solidFill>
              </a:rPr>
              <a:t>DE</a:t>
            </a:r>
            <a:endParaRPr lang="en-HK">
              <a:solidFill>
                <a:schemeClr val="bg2">
                  <a:lumMod val="90000"/>
                </a:schemeClr>
              </a:solidFill>
            </a:endParaRPr>
          </a:p>
          <a:p>
            <a:pPr algn="r">
              <a:spcAft>
                <a:spcPts val="900"/>
              </a:spcAft>
            </a:pPr>
            <a:r>
              <a:rPr lang="en-HK" cap="small">
                <a:solidFill>
                  <a:schemeClr val="bg2">
                    <a:lumMod val="90000"/>
                  </a:schemeClr>
                </a:solidFill>
              </a:rPr>
              <a:t>HI</a:t>
            </a:r>
            <a:endParaRPr lang="en-HK" cap="small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458A6B-D2AB-1680-9E94-51416B58D7D4}"/>
              </a:ext>
            </a:extLst>
          </p:cNvPr>
          <p:cNvSpPr txBox="1"/>
          <p:nvPr/>
        </p:nvSpPr>
        <p:spPr>
          <a:xfrm>
            <a:off x="652116" y="18334597"/>
            <a:ext cx="84371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sz="2800" i="1" noProof="0" dirty="0">
                <a:solidFill>
                  <a:srgbClr val="8F1329"/>
                </a:solidFill>
              </a:rPr>
              <a:t>How do speakers of ungendered languages deal with gender stereotypes </a:t>
            </a:r>
            <a:r>
              <a:rPr lang="en-HK" sz="2800" i="1" dirty="0">
                <a:solidFill>
                  <a:srgbClr val="8F1329"/>
                </a:solidFill>
              </a:rPr>
              <a:t>on the lexical level?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3CA83761-FA85-1F2C-AE68-E55CCCD48C21}"/>
              </a:ext>
            </a:extLst>
          </p:cNvPr>
          <p:cNvSpPr txBox="1"/>
          <p:nvPr/>
        </p:nvSpPr>
        <p:spPr>
          <a:xfrm>
            <a:off x="1059571" y="30544574"/>
            <a:ext cx="3075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sz="2800" dirty="0">
                <a:solidFill>
                  <a:schemeClr val="bg2">
                    <a:lumMod val="50000"/>
                  </a:schemeClr>
                </a:solidFill>
              </a:rPr>
              <a:t>Hungarian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61E106EA-F4A3-0B2C-55FF-74B7A71AE2D0}"/>
              </a:ext>
            </a:extLst>
          </p:cNvPr>
          <p:cNvSpPr txBox="1"/>
          <p:nvPr/>
        </p:nvSpPr>
        <p:spPr>
          <a:xfrm>
            <a:off x="5647245" y="30514118"/>
            <a:ext cx="3075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sz="2800" dirty="0">
                <a:solidFill>
                  <a:schemeClr val="bg2">
                    <a:lumMod val="50000"/>
                  </a:schemeClr>
                </a:solidFill>
              </a:rPr>
              <a:t>Chinese</a:t>
            </a:r>
          </a:p>
        </p:txBody>
      </p:sp>
      <p:sp>
        <p:nvSpPr>
          <p:cNvPr id="1026" name="文本框 1051">
            <a:extLst>
              <a:ext uri="{FF2B5EF4-FFF2-40B4-BE49-F238E27FC236}">
                <a16:creationId xmlns:a16="http://schemas.microsoft.com/office/drawing/2014/main" id="{CABBDC06-4ECA-1F4D-D23B-BB610241651F}"/>
              </a:ext>
            </a:extLst>
          </p:cNvPr>
          <p:cNvSpPr txBox="1"/>
          <p:nvPr/>
        </p:nvSpPr>
        <p:spPr>
          <a:xfrm>
            <a:off x="7283582" y="35408827"/>
            <a:ext cx="2019360" cy="369332"/>
          </a:xfrm>
          <a:prstGeom prst="rect">
            <a:avLst/>
          </a:prstGeom>
          <a:gradFill>
            <a:gsLst>
              <a:gs pos="0">
                <a:srgbClr val="138F79"/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</a:gra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HK" noProof="0" dirty="0"/>
              <a:t>Hungarian version</a:t>
            </a:r>
            <a:endParaRPr kumimoji="1" lang="en-HK" b="1" noProof="0" dirty="0"/>
          </a:p>
        </p:txBody>
      </p:sp>
      <p:pic>
        <p:nvPicPr>
          <p:cNvPr id="1031" name="Picture 1030">
            <a:extLst>
              <a:ext uri="{FF2B5EF4-FFF2-40B4-BE49-F238E27FC236}">
                <a16:creationId xmlns:a16="http://schemas.microsoft.com/office/drawing/2014/main" id="{C5A07147-5D44-3B59-ED18-AE03FA82721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3897" y="33664124"/>
            <a:ext cx="720000" cy="720000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55042329-C54B-4659-16E6-D88B49B36B00}"/>
              </a:ext>
            </a:extLst>
          </p:cNvPr>
          <p:cNvSpPr txBox="1"/>
          <p:nvPr/>
        </p:nvSpPr>
        <p:spPr>
          <a:xfrm>
            <a:off x="9756000" y="37293656"/>
            <a:ext cx="10764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 dirty="0">
                <a:solidFill>
                  <a:srgbClr val="8F1329"/>
                </a:solidFill>
              </a:rPr>
              <a:t>Will</a:t>
            </a:r>
            <a:r>
              <a:rPr lang="en-HK" sz="3200" i="1" dirty="0">
                <a:solidFill>
                  <a:srgbClr val="8F1329"/>
                </a:solidFill>
              </a:rPr>
              <a:t> LLMs mimic/conform to human ratings? </a:t>
            </a:r>
            <a:br>
              <a:rPr lang="en-HK" sz="3200" i="1" dirty="0">
                <a:solidFill>
                  <a:srgbClr val="8F1329"/>
                </a:solidFill>
              </a:rPr>
            </a:br>
            <a:r>
              <a:rPr lang="en-HK" sz="3200" i="1" dirty="0">
                <a:solidFill>
                  <a:srgbClr val="8F1329"/>
                </a:solidFill>
              </a:rPr>
              <a:t>Will there be differences based on the prompt’s language?</a:t>
            </a:r>
          </a:p>
        </p:txBody>
      </p:sp>
      <p:sp>
        <p:nvSpPr>
          <p:cNvPr id="1038" name="Rectangle: Rounded Corners 1037">
            <a:extLst>
              <a:ext uri="{FF2B5EF4-FFF2-40B4-BE49-F238E27FC236}">
                <a16:creationId xmlns:a16="http://schemas.microsoft.com/office/drawing/2014/main" id="{54729F0E-E50F-071D-4DC0-6E2F9B14E3C9}"/>
              </a:ext>
            </a:extLst>
          </p:cNvPr>
          <p:cNvSpPr/>
          <p:nvPr/>
        </p:nvSpPr>
        <p:spPr>
          <a:xfrm>
            <a:off x="28860921" y="5545420"/>
            <a:ext cx="874260" cy="874260"/>
          </a:xfrm>
          <a:prstGeom prst="roundRect">
            <a:avLst/>
          </a:prstGeom>
          <a:gradFill flip="none" rotWithShape="1">
            <a:gsLst>
              <a:gs pos="0">
                <a:srgbClr val="138F79"/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27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1</a:t>
            </a:r>
            <a:endParaRPr lang="en-HK" sz="4800" dirty="0"/>
          </a:p>
        </p:txBody>
      </p:sp>
      <p:pic>
        <p:nvPicPr>
          <p:cNvPr id="1064" name="图片 1068" descr="手机屏幕截图&#10;&#10;AI 生成的内容可能不正确。">
            <a:extLst>
              <a:ext uri="{FF2B5EF4-FFF2-40B4-BE49-F238E27FC236}">
                <a16:creationId xmlns:a16="http://schemas.microsoft.com/office/drawing/2014/main" id="{917CF78D-F5CD-3D88-8710-2CF4A9308DB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" t="1469" r="2103" b="51816"/>
          <a:stretch>
            <a:fillRect/>
          </a:stretch>
        </p:blipFill>
        <p:spPr>
          <a:xfrm>
            <a:off x="25541749" y="20978261"/>
            <a:ext cx="4375464" cy="2070000"/>
          </a:xfrm>
          <a:prstGeom prst="rect">
            <a:avLst/>
          </a:prstGeom>
        </p:spPr>
      </p:pic>
      <p:pic>
        <p:nvPicPr>
          <p:cNvPr id="1065" name="图片 1069" descr="手机屏幕截图&#10;&#10;AI 生成的内容可能不正确。">
            <a:extLst>
              <a:ext uri="{FF2B5EF4-FFF2-40B4-BE49-F238E27FC236}">
                <a16:creationId xmlns:a16="http://schemas.microsoft.com/office/drawing/2014/main" id="{818D01D2-91A3-D678-19C0-B105CE335F7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4" t="50943" r="1916" b="1653"/>
          <a:stretch>
            <a:fillRect/>
          </a:stretch>
        </p:blipFill>
        <p:spPr>
          <a:xfrm>
            <a:off x="25623949" y="26098955"/>
            <a:ext cx="4289185" cy="207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C1DAB7B-2C56-F9F3-6574-11446A0DEA59}"/>
              </a:ext>
            </a:extLst>
          </p:cNvPr>
          <p:cNvSpPr txBox="1"/>
          <p:nvPr/>
        </p:nvSpPr>
        <p:spPr>
          <a:xfrm>
            <a:off x="11097344" y="34449530"/>
            <a:ext cx="993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chemeClr val="bg2">
                    <a:lumMod val="75000"/>
                  </a:schemeClr>
                </a:solidFill>
              </a:rPr>
              <a:t>   GPT-5	         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</a:rPr>
              <a:t>Open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</a:rPr>
              <a:t>AI's o1 </a:t>
            </a:r>
            <a:r>
              <a:rPr lang="en-HK" dirty="0">
                <a:solidFill>
                  <a:schemeClr val="bg2">
                    <a:lumMod val="75000"/>
                  </a:schemeClr>
                </a:solidFill>
              </a:rPr>
              <a:t>	    DeepSeek-R1                2.5 Flash		    Mistral Medium 3.1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63EEB-BFB4-8A83-082C-21348063BC92}"/>
              </a:ext>
            </a:extLst>
          </p:cNvPr>
          <p:cNvSpPr txBox="1"/>
          <p:nvPr/>
        </p:nvSpPr>
        <p:spPr>
          <a:xfrm>
            <a:off x="7390369" y="32880971"/>
            <a:ext cx="16769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sz="2400" dirty="0">
                <a:solidFill>
                  <a:schemeClr val="bg2">
                    <a:lumMod val="90000"/>
                  </a:schemeClr>
                </a:solidFill>
              </a:rPr>
              <a:t>+ 6 </a:t>
            </a:r>
            <a:br>
              <a:rPr lang="en-HK" sz="2400" dirty="0">
                <a:solidFill>
                  <a:schemeClr val="bg2">
                    <a:lumMod val="90000"/>
                  </a:schemeClr>
                </a:solidFill>
              </a:rPr>
            </a:br>
            <a:r>
              <a:rPr lang="en-HK" sz="2400" dirty="0">
                <a:solidFill>
                  <a:schemeClr val="bg2">
                    <a:lumMod val="90000"/>
                  </a:schemeClr>
                </a:solidFill>
              </a:rPr>
              <a:t>attention </a:t>
            </a:r>
            <a:br>
              <a:rPr lang="en-HK" sz="2400" dirty="0">
                <a:solidFill>
                  <a:schemeClr val="bg2">
                    <a:lumMod val="90000"/>
                  </a:schemeClr>
                </a:solidFill>
              </a:rPr>
            </a:br>
            <a:r>
              <a:rPr lang="en-HK" sz="2400" dirty="0">
                <a:solidFill>
                  <a:schemeClr val="bg2">
                    <a:lumMod val="90000"/>
                  </a:schemeClr>
                </a:solidFill>
              </a:rPr>
              <a:t>checks</a:t>
            </a:r>
            <a:endParaRPr lang="en-HK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E74744-E443-4C3F-A73A-8FB00F48848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4886" y="10597463"/>
            <a:ext cx="4500000" cy="55392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784B33-C5B8-2D11-7BF9-5420B946361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999" y="7229494"/>
            <a:ext cx="9719999" cy="324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BCB0A34-EBC3-3C2A-873F-27760389C1E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" r="3931" b="4362"/>
          <a:stretch>
            <a:fillRect/>
          </a:stretch>
        </p:blipFill>
        <p:spPr>
          <a:xfrm>
            <a:off x="9719994" y="19762728"/>
            <a:ext cx="15840000" cy="512964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39688E7-289F-341B-B6FD-E4B2F3C5F94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4527" y="7229494"/>
            <a:ext cx="9720000" cy="3240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EC948AC-A097-0282-5D84-FABDA368244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1" r="4042" b="5171"/>
          <a:stretch>
            <a:fillRect/>
          </a:stretch>
        </p:blipFill>
        <p:spPr>
          <a:xfrm>
            <a:off x="9720001" y="24766729"/>
            <a:ext cx="15840000" cy="502524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2AAA12B-03AC-232A-3701-BA9DA184775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5" b="6982"/>
          <a:stretch>
            <a:fillRect/>
          </a:stretch>
        </p:blipFill>
        <p:spPr>
          <a:xfrm>
            <a:off x="9719993" y="11203573"/>
            <a:ext cx="15105149" cy="54000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E5F07F9-5328-6CA6-CB8E-FD0A71F0CCE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1749" y="1946822"/>
            <a:ext cx="1080000" cy="1080000"/>
          </a:xfrm>
          <a:prstGeom prst="rect">
            <a:avLst/>
          </a:prstGeom>
        </p:spPr>
      </p:pic>
      <p:sp>
        <p:nvSpPr>
          <p:cNvPr id="1030" name="Rectangle: Rounded Corners 1029">
            <a:extLst>
              <a:ext uri="{FF2B5EF4-FFF2-40B4-BE49-F238E27FC236}">
                <a16:creationId xmlns:a16="http://schemas.microsoft.com/office/drawing/2014/main" id="{2A003222-D7A2-5711-54AA-41AF0C18B244}"/>
              </a:ext>
            </a:extLst>
          </p:cNvPr>
          <p:cNvSpPr/>
          <p:nvPr/>
        </p:nvSpPr>
        <p:spPr>
          <a:xfrm>
            <a:off x="25647337" y="26545053"/>
            <a:ext cx="4232661" cy="295275"/>
          </a:xfrm>
          <a:prstGeom prst="roundRect">
            <a:avLst/>
          </a:prstGeom>
          <a:noFill/>
          <a:ln w="38100">
            <a:solidFill>
              <a:srgbClr val="3C5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032" name="Rectangle: Rounded Corners 1031">
            <a:extLst>
              <a:ext uri="{FF2B5EF4-FFF2-40B4-BE49-F238E27FC236}">
                <a16:creationId xmlns:a16="http://schemas.microsoft.com/office/drawing/2014/main" id="{46445CA5-A8B1-3D9B-9BD1-D0193F95DF26}"/>
              </a:ext>
            </a:extLst>
          </p:cNvPr>
          <p:cNvSpPr/>
          <p:nvPr/>
        </p:nvSpPr>
        <p:spPr>
          <a:xfrm>
            <a:off x="25573976" y="21506328"/>
            <a:ext cx="4306023" cy="294989"/>
          </a:xfrm>
          <a:prstGeom prst="roundRect">
            <a:avLst/>
          </a:prstGeom>
          <a:noFill/>
          <a:ln w="38100">
            <a:solidFill>
              <a:srgbClr val="F950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pic>
        <p:nvPicPr>
          <p:cNvPr id="1042" name="Picture 1041">
            <a:extLst>
              <a:ext uri="{FF2B5EF4-FFF2-40B4-BE49-F238E27FC236}">
                <a16:creationId xmlns:a16="http://schemas.microsoft.com/office/drawing/2014/main" id="{0F0863DF-AB12-441A-0EBE-12D0C3F62EF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42"/>
          <a:stretch>
            <a:fillRect/>
          </a:stretch>
        </p:blipFill>
        <p:spPr>
          <a:xfrm>
            <a:off x="26783509" y="16415111"/>
            <a:ext cx="2951672" cy="2520000"/>
          </a:xfrm>
          <a:prstGeom prst="rect">
            <a:avLst/>
          </a:prstGeom>
        </p:spPr>
      </p:pic>
      <p:pic>
        <p:nvPicPr>
          <p:cNvPr id="1050" name="Picture 1049">
            <a:extLst>
              <a:ext uri="{FF2B5EF4-FFF2-40B4-BE49-F238E27FC236}">
                <a16:creationId xmlns:a16="http://schemas.microsoft.com/office/drawing/2014/main" id="{937D4A79-5C53-DC63-34A1-71FF87423B4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r="51992"/>
          <a:stretch>
            <a:fillRect/>
          </a:stretch>
        </p:blipFill>
        <p:spPr>
          <a:xfrm>
            <a:off x="24710842" y="16415111"/>
            <a:ext cx="2727649" cy="2520000"/>
          </a:xfrm>
          <a:prstGeom prst="rect">
            <a:avLst/>
          </a:prstGeom>
        </p:spPr>
      </p:pic>
      <p:sp>
        <p:nvSpPr>
          <p:cNvPr id="1051" name="TextBox 1050">
            <a:extLst>
              <a:ext uri="{FF2B5EF4-FFF2-40B4-BE49-F238E27FC236}">
                <a16:creationId xmlns:a16="http://schemas.microsoft.com/office/drawing/2014/main" id="{17BAFAD1-20A0-60EC-1157-DA72D466FE78}"/>
              </a:ext>
            </a:extLst>
          </p:cNvPr>
          <p:cNvSpPr txBox="1"/>
          <p:nvPr/>
        </p:nvSpPr>
        <p:spPr>
          <a:xfrm rot="16200000">
            <a:off x="24657711" y="12334577"/>
            <a:ext cx="873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HK" sz="2400" dirty="0">
                <a:solidFill>
                  <a:schemeClr val="bg2">
                    <a:lumMod val="90000"/>
                  </a:schemeClr>
                </a:solidFill>
              </a:rPr>
              <a:t>✂</a:t>
            </a:r>
            <a:endParaRPr lang="en-HK" sz="3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59" name="Rectangle: Rounded Corners 1058">
            <a:extLst>
              <a:ext uri="{FF2B5EF4-FFF2-40B4-BE49-F238E27FC236}">
                <a16:creationId xmlns:a16="http://schemas.microsoft.com/office/drawing/2014/main" id="{D9CA62BF-2AF4-F467-C31D-14BBEB502F7D}"/>
              </a:ext>
            </a:extLst>
          </p:cNvPr>
          <p:cNvSpPr/>
          <p:nvPr/>
        </p:nvSpPr>
        <p:spPr>
          <a:xfrm>
            <a:off x="28860921" y="19187451"/>
            <a:ext cx="874260" cy="874260"/>
          </a:xfrm>
          <a:prstGeom prst="roundRect">
            <a:avLst/>
          </a:prstGeom>
          <a:gradFill flip="none" rotWithShape="1">
            <a:gsLst>
              <a:gs pos="0">
                <a:srgbClr val="138F79"/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27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2</a:t>
            </a:r>
            <a:endParaRPr lang="en-HK" sz="4800" dirty="0"/>
          </a:p>
        </p:txBody>
      </p:sp>
      <p:cxnSp>
        <p:nvCxnSpPr>
          <p:cNvPr id="1062" name="Straight Connector 1061">
            <a:extLst>
              <a:ext uri="{FF2B5EF4-FFF2-40B4-BE49-F238E27FC236}">
                <a16:creationId xmlns:a16="http://schemas.microsoft.com/office/drawing/2014/main" id="{78E1FC11-573A-4FBE-66FB-92A75A4F179D}"/>
              </a:ext>
            </a:extLst>
          </p:cNvPr>
          <p:cNvCxnSpPr>
            <a:cxnSpLocks/>
          </p:cNvCxnSpPr>
          <p:nvPr/>
        </p:nvCxnSpPr>
        <p:spPr>
          <a:xfrm>
            <a:off x="10144125" y="19040466"/>
            <a:ext cx="19591056" cy="3188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49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3215</TotalTime>
  <Words>1526</Words>
  <Application>Microsoft Office PowerPoint</Application>
  <PresentationFormat>Custom</PresentationFormat>
  <Paragraphs>193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Avenir Book</vt:lpstr>
      <vt:lpstr>DengXian</vt:lpstr>
      <vt:lpstr>SimSong</vt:lpstr>
      <vt:lpstr>SimSun</vt:lpstr>
      <vt:lpstr>Agency FB</vt:lpstr>
      <vt:lpstr>Aptos</vt:lpstr>
      <vt:lpstr>Aptos Display</vt:lpstr>
      <vt:lpstr>Arial</vt:lpstr>
      <vt:lpstr>Cambria Math</vt:lpstr>
      <vt:lpstr>Consolas</vt:lpstr>
      <vt:lpstr>Nunito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Gábor P.</dc:creator>
  <cp:lastModifiedBy>Gábor P.</cp:lastModifiedBy>
  <cp:revision>111</cp:revision>
  <dcterms:created xsi:type="dcterms:W3CDTF">2026-02-26T05:13:26Z</dcterms:created>
  <dcterms:modified xsi:type="dcterms:W3CDTF">2026-06-08T09:56:50Z</dcterms:modified>
</cp:coreProperties>
</file>